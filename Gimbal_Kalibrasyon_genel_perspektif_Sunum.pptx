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78" r:id="rId9"/>
    <p:sldId id="262" r:id="rId10"/>
    <p:sldId id="277" r:id="rId11"/>
    <p:sldId id="263" r:id="rId12"/>
    <p:sldId id="264" r:id="rId13"/>
    <p:sldId id="265" r:id="rId14"/>
    <p:sldId id="267" r:id="rId15"/>
    <p:sldId id="266" r:id="rId16"/>
    <p:sldId id="268" r:id="rId17"/>
    <p:sldId id="269" r:id="rId18"/>
    <p:sldId id="270" r:id="rId19"/>
    <p:sldId id="271" r:id="rId20"/>
    <p:sldId id="272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baslerweb.com/c11-1220-12m-p" TargetMode="External"/><Relationship Id="rId2" Type="http://schemas.openxmlformats.org/officeDocument/2006/relationships/hyperlink" Target="https://www.alliedvision.com/en/products/area-scan-cameras/prosilica-gt/view/102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thorlabs.com/item/PL20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digikey.com/pdf/Data%20Sheets/Excelitas%20PDFs/30989_RevA.pdf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item/F280SMA-B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54028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Gimbal–Lazer </a:t>
            </a:r>
            <a:r>
              <a:rPr dirty="0" err="1"/>
              <a:t>Tabanlı</a:t>
            </a:r>
            <a:r>
              <a:rPr dirty="0"/>
              <a:t> Kamera </a:t>
            </a:r>
            <a:r>
              <a:rPr dirty="0" err="1"/>
              <a:t>Distorsiyon</a:t>
            </a:r>
            <a:r>
              <a:rPr dirty="0"/>
              <a:t> </a:t>
            </a:r>
            <a:r>
              <a:rPr dirty="0" err="1"/>
              <a:t>Kalibrasyonu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114374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D0FF"/>
                </a:solidFill>
                <a:latin typeface="Calibri"/>
              </a:defRPr>
            </a:pPr>
            <a:r>
              <a:rPr dirty="0"/>
              <a:t>Star Tracker Optik </a:t>
            </a:r>
            <a:r>
              <a:rPr dirty="0" err="1"/>
              <a:t>Sistemi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Kamera </a:t>
            </a:r>
            <a:r>
              <a:rPr dirty="0" err="1"/>
              <a:t>İçsel</a:t>
            </a:r>
            <a:r>
              <a:rPr dirty="0"/>
              <a:t> </a:t>
            </a:r>
            <a:r>
              <a:rPr dirty="0" err="1"/>
              <a:t>Parametre</a:t>
            </a:r>
            <a:br>
              <a:rPr dirty="0"/>
            </a:b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Distorsiyon</a:t>
            </a:r>
            <a:r>
              <a:rPr dirty="0"/>
              <a:t> </a:t>
            </a:r>
            <a:r>
              <a:rPr dirty="0" err="1"/>
              <a:t>Karakterizasyonu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892040" y="2909902"/>
            <a:ext cx="2103120" cy="27432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11599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TÜBİTAK UZAY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97191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Hazırlayan</a:t>
            </a:r>
            <a:r>
              <a:rPr dirty="0"/>
              <a:t>: </a:t>
            </a:r>
            <a:r>
              <a:rPr lang="tr-TR" dirty="0"/>
              <a:t>İdil Su NOKTA</a:t>
            </a:r>
            <a:r>
              <a:rPr dirty="0"/>
              <a:t>  •  </a:t>
            </a:r>
            <a:r>
              <a:rPr lang="tr-TR" dirty="0"/>
              <a:t>14 </a:t>
            </a:r>
            <a:r>
              <a:rPr dirty="0" err="1"/>
              <a:t>Ağustos</a:t>
            </a:r>
            <a:r>
              <a:rPr dirty="0"/>
              <a:t>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62B055-1B6F-4757-43EF-82693B1E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366" y="3536943"/>
            <a:ext cx="1672467" cy="2434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İçindekiler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2/25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 Amaç ve Motivasyon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 Sistem Mimarisi ve Donanım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 Optik Temeller ve Matematiksel Model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 Deneysel Yöntem: Grid Tarama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 Karşılaşılan Sorunlar ve Çözümler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 Ölçüm Sonuçları: Kronolojik Gelişim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 İleri Optik Analiz: Küresel Yörünge ve Perspektif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 Yeni Lazer: Helyum-Neon (HeNe) Geçişi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9.  Sonuç ve Gelecek Çalışmalar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Amaç ve Motivasyon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Neden kamera kalibrasyonu?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3/25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Star tracker: Yıldız </a:t>
            </a:r>
            <a:r>
              <a:rPr dirty="0" err="1"/>
              <a:t>piksel</a:t>
            </a:r>
            <a:r>
              <a:rPr dirty="0"/>
              <a:t> </a:t>
            </a:r>
            <a:r>
              <a:rPr dirty="0" err="1"/>
              <a:t>konumlarından</a:t>
            </a:r>
            <a:r>
              <a:rPr dirty="0"/>
              <a:t> </a:t>
            </a:r>
            <a:r>
              <a:rPr dirty="0" err="1"/>
              <a:t>uydu</a:t>
            </a:r>
            <a:r>
              <a:rPr dirty="0"/>
              <a:t> </a:t>
            </a:r>
            <a:r>
              <a:rPr dirty="0" err="1"/>
              <a:t>yönelimi</a:t>
            </a:r>
            <a:r>
              <a:rPr dirty="0"/>
              <a:t> (attitude) </a:t>
            </a:r>
            <a:r>
              <a:rPr dirty="0" err="1"/>
              <a:t>belirler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Bu </a:t>
            </a:r>
            <a:r>
              <a:rPr dirty="0" err="1"/>
              <a:t>dönüşümün</a:t>
            </a:r>
            <a:r>
              <a:rPr dirty="0"/>
              <a:t> </a:t>
            </a:r>
            <a:r>
              <a:rPr dirty="0" err="1"/>
              <a:t>doğruluğu</a:t>
            </a:r>
            <a:r>
              <a:rPr dirty="0"/>
              <a:t> → </a:t>
            </a:r>
            <a:r>
              <a:rPr dirty="0" err="1"/>
              <a:t>kameranın</a:t>
            </a:r>
            <a:r>
              <a:rPr dirty="0"/>
              <a:t> </a:t>
            </a:r>
            <a:r>
              <a:rPr dirty="0" err="1"/>
              <a:t>matematiksel</a:t>
            </a:r>
            <a:r>
              <a:rPr dirty="0"/>
              <a:t> </a:t>
            </a:r>
            <a:r>
              <a:rPr dirty="0" err="1"/>
              <a:t>modelinin</a:t>
            </a:r>
            <a:r>
              <a:rPr dirty="0"/>
              <a:t> </a:t>
            </a:r>
            <a:r>
              <a:rPr dirty="0" err="1"/>
              <a:t>kalitesine</a:t>
            </a:r>
            <a:r>
              <a:rPr dirty="0"/>
              <a:t> </a:t>
            </a:r>
            <a:r>
              <a:rPr dirty="0" err="1"/>
              <a:t>bağlı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Gerçek</a:t>
            </a:r>
            <a:r>
              <a:rPr dirty="0"/>
              <a:t> </a:t>
            </a:r>
            <a:r>
              <a:rPr dirty="0" err="1"/>
              <a:t>kamera</a:t>
            </a:r>
            <a:r>
              <a:rPr dirty="0"/>
              <a:t>, ideal pinhole </a:t>
            </a:r>
            <a:r>
              <a:rPr dirty="0" err="1"/>
              <a:t>modelinden</a:t>
            </a:r>
            <a:r>
              <a:rPr dirty="0"/>
              <a:t> </a:t>
            </a:r>
            <a:r>
              <a:rPr dirty="0" err="1"/>
              <a:t>iki</a:t>
            </a:r>
            <a:r>
              <a:rPr dirty="0"/>
              <a:t> </a:t>
            </a:r>
            <a:r>
              <a:rPr dirty="0" err="1"/>
              <a:t>noktada</a:t>
            </a:r>
            <a:r>
              <a:rPr dirty="0"/>
              <a:t> </a:t>
            </a:r>
            <a:r>
              <a:rPr dirty="0" err="1"/>
              <a:t>sapar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▸ Odak </a:t>
            </a:r>
            <a:r>
              <a:rPr dirty="0" err="1"/>
              <a:t>uzaklığı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optik</a:t>
            </a:r>
            <a:r>
              <a:rPr dirty="0"/>
              <a:t> </a:t>
            </a:r>
            <a:r>
              <a:rPr dirty="0" err="1"/>
              <a:t>merkez</a:t>
            </a:r>
            <a:r>
              <a:rPr dirty="0"/>
              <a:t> → </a:t>
            </a:r>
            <a:r>
              <a:rPr dirty="0" err="1"/>
              <a:t>üretim</a:t>
            </a:r>
            <a:r>
              <a:rPr dirty="0"/>
              <a:t>/</a:t>
            </a:r>
            <a:r>
              <a:rPr dirty="0" err="1"/>
              <a:t>montaj</a:t>
            </a:r>
            <a:r>
              <a:rPr dirty="0"/>
              <a:t> </a:t>
            </a:r>
            <a:r>
              <a:rPr dirty="0" err="1"/>
              <a:t>toleransları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▸ Lens </a:t>
            </a:r>
            <a:r>
              <a:rPr dirty="0" err="1"/>
              <a:t>distorsiyonu</a:t>
            </a:r>
            <a:r>
              <a:rPr dirty="0"/>
              <a:t> → </a:t>
            </a:r>
            <a:r>
              <a:rPr dirty="0" err="1"/>
              <a:t>doğrusal</a:t>
            </a:r>
            <a:r>
              <a:rPr dirty="0"/>
              <a:t> </a:t>
            </a:r>
            <a:r>
              <a:rPr dirty="0" err="1"/>
              <a:t>olmayan</a:t>
            </a:r>
            <a:r>
              <a:rPr dirty="0"/>
              <a:t> </a:t>
            </a:r>
            <a:r>
              <a:rPr dirty="0" err="1"/>
              <a:t>geometrik</a:t>
            </a:r>
            <a:r>
              <a:rPr dirty="0"/>
              <a:t> </a:t>
            </a:r>
            <a:r>
              <a:rPr dirty="0" err="1"/>
              <a:t>bükülme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Hedef</a:t>
            </a:r>
            <a:r>
              <a:rPr dirty="0"/>
              <a:t>: </a:t>
            </a:r>
            <a:r>
              <a:rPr dirty="0" err="1"/>
              <a:t>fx</a:t>
            </a:r>
            <a:r>
              <a:rPr dirty="0"/>
              <a:t>, </a:t>
            </a:r>
            <a:r>
              <a:rPr dirty="0" err="1"/>
              <a:t>fy</a:t>
            </a:r>
            <a:r>
              <a:rPr dirty="0"/>
              <a:t>, cx, cy</a:t>
            </a:r>
            <a:r>
              <a:rPr lang="tr-TR" dirty="0"/>
              <a:t>, </a:t>
            </a:r>
            <a:r>
              <a:rPr dirty="0"/>
              <a:t>k1, k2, p1, p2 </a:t>
            </a:r>
            <a:r>
              <a:rPr dirty="0" err="1"/>
              <a:t>parametrelerini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güvenilirlikle</a:t>
            </a:r>
            <a:r>
              <a:rPr dirty="0"/>
              <a:t> </a:t>
            </a:r>
            <a:r>
              <a:rPr dirty="0" err="1"/>
              <a:t>bulmak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İki </a:t>
            </a:r>
            <a:r>
              <a:rPr dirty="0" err="1"/>
              <a:t>aşamalı</a:t>
            </a:r>
            <a:r>
              <a:rPr dirty="0"/>
              <a:t> </a:t>
            </a:r>
            <a:r>
              <a:rPr dirty="0" err="1"/>
              <a:t>strateji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1) Chessboard </a:t>
            </a:r>
            <a:r>
              <a:rPr dirty="0" err="1"/>
              <a:t>tabanlı</a:t>
            </a:r>
            <a:r>
              <a:rPr dirty="0"/>
              <a:t> OpenCV </a:t>
            </a:r>
            <a:r>
              <a:rPr dirty="0" err="1"/>
              <a:t>kalibrasyonu</a:t>
            </a:r>
            <a:r>
              <a:rPr dirty="0"/>
              <a:t> (</a:t>
            </a:r>
            <a:r>
              <a:rPr dirty="0" err="1"/>
              <a:t>hızlı</a:t>
            </a:r>
            <a:r>
              <a:rPr dirty="0"/>
              <a:t> </a:t>
            </a:r>
            <a:r>
              <a:rPr dirty="0" err="1"/>
              <a:t>başlangıç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2) Gimbal + Lazer </a:t>
            </a:r>
            <a:r>
              <a:rPr dirty="0" err="1"/>
              <a:t>tabanlı</a:t>
            </a:r>
            <a:r>
              <a:rPr dirty="0"/>
              <a:t> </a:t>
            </a:r>
            <a:r>
              <a:rPr dirty="0" err="1"/>
              <a:t>kontrollü</a:t>
            </a:r>
            <a:r>
              <a:rPr dirty="0"/>
              <a:t> grid </a:t>
            </a:r>
            <a:r>
              <a:rPr dirty="0" err="1"/>
              <a:t>taraması</a:t>
            </a:r>
            <a:r>
              <a:rPr dirty="0"/>
              <a:t> (</a:t>
            </a:r>
            <a:r>
              <a:rPr dirty="0" err="1"/>
              <a:t>hassas</a:t>
            </a:r>
            <a:r>
              <a:rPr dirty="0"/>
              <a:t> </a:t>
            </a:r>
            <a:r>
              <a:rPr dirty="0" err="1"/>
              <a:t>haritalama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Sistem Mimarisi ve Donanım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TÜBİTAK UZAY — Star Tracker Optik </a:t>
            </a:r>
            <a:r>
              <a:rPr dirty="0" err="1"/>
              <a:t>Kalibrasyon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4/25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9436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u="sng" dirty="0"/>
              <a:t>Kamera:</a:t>
            </a:r>
            <a:r>
              <a:rPr lang="tr-TR" dirty="0"/>
              <a:t> P</a:t>
            </a:r>
            <a:r>
              <a:rPr dirty="0" err="1"/>
              <a:t>rosilica</a:t>
            </a:r>
            <a:r>
              <a:rPr dirty="0"/>
              <a:t> GT2050 (CMV4000 CMOS)</a:t>
            </a:r>
            <a:r>
              <a:rPr lang="tr-TR" dirty="0"/>
              <a:t> (</a:t>
            </a:r>
            <a:r>
              <a:rPr lang="en-GB" dirty="0">
                <a:hlinkClick r:id="rId2"/>
              </a:rPr>
              <a:t>prosilica-GT2050</a:t>
            </a:r>
            <a:r>
              <a:rPr lang="tr-TR" dirty="0"/>
              <a:t>)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2048×2048 </a:t>
            </a:r>
            <a:r>
              <a:rPr dirty="0" err="1"/>
              <a:t>px</a:t>
            </a:r>
            <a:r>
              <a:rPr dirty="0"/>
              <a:t>, 5.5 µm </a:t>
            </a:r>
            <a:r>
              <a:rPr dirty="0" err="1"/>
              <a:t>piksel</a:t>
            </a:r>
            <a:r>
              <a:rPr dirty="0"/>
              <a:t>, 12-bit, Global Shutter</a:t>
            </a:r>
            <a:endParaRPr lang="tr-TR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u="sng" dirty="0"/>
              <a:t>Lens:</a:t>
            </a:r>
            <a:r>
              <a:rPr dirty="0"/>
              <a:t> Basler C11-1220-12M-P </a:t>
            </a:r>
            <a:r>
              <a:rPr lang="tr-TR" dirty="0"/>
              <a:t>(</a:t>
            </a:r>
            <a:r>
              <a:rPr lang="en-GB" sz="1400" dirty="0">
                <a:hlinkClick r:id="rId3"/>
              </a:rPr>
              <a:t>c11-1220-12m-p</a:t>
            </a:r>
            <a:r>
              <a:rPr lang="tr-TR" sz="1400" dirty="0"/>
              <a:t>)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f = 12.39 mm, F2.0, </a:t>
            </a:r>
            <a:r>
              <a:rPr dirty="0" err="1"/>
              <a:t>Distorsiyon</a:t>
            </a:r>
            <a:r>
              <a:rPr dirty="0"/>
              <a:t>: −3.10%</a:t>
            </a:r>
            <a:endParaRPr lang="tr-TR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en-GB" sz="1400" dirty="0"/>
              <a:t> 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u="sng" dirty="0"/>
              <a:t>Gimbal:</a:t>
            </a:r>
            <a:r>
              <a:rPr dirty="0"/>
              <a:t> MKS + Marlin G-code </a:t>
            </a:r>
            <a:r>
              <a:rPr dirty="0" err="1"/>
              <a:t>kontrolü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• Azimut: 1°/5.0 mm   </a:t>
            </a:r>
            <a:r>
              <a:rPr lang="tr-TR" dirty="0"/>
              <a:t> </a:t>
            </a:r>
            <a:r>
              <a:rPr dirty="0"/>
              <a:t>• </a:t>
            </a:r>
            <a:r>
              <a:rPr dirty="0" err="1"/>
              <a:t>Elevasyon</a:t>
            </a:r>
            <a:r>
              <a:rPr dirty="0"/>
              <a:t>: 1°/2.37 mm</a:t>
            </a:r>
            <a:endParaRPr lang="tr-TR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• </a:t>
            </a:r>
            <a:r>
              <a:rPr dirty="0" err="1"/>
              <a:t>Adım</a:t>
            </a:r>
            <a:r>
              <a:rPr dirty="0"/>
              <a:t> </a:t>
            </a:r>
            <a:r>
              <a:rPr dirty="0" err="1"/>
              <a:t>çözünürlüğü</a:t>
            </a:r>
            <a:r>
              <a:rPr dirty="0"/>
              <a:t>: 0.004 mm (Az.) / 0.005 mm (El.)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u="sng" dirty="0"/>
              <a:t>Pinhole:</a:t>
            </a:r>
            <a:r>
              <a:rPr dirty="0"/>
              <a:t> Thorlabs FMP1/M, 150 µm </a:t>
            </a:r>
            <a:r>
              <a:rPr dirty="0" err="1"/>
              <a:t>açıklık</a:t>
            </a:r>
            <a:endParaRPr lang="tr-TR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tr-TR" u="sng" dirty="0"/>
              <a:t>Lazer-1:</a:t>
            </a:r>
            <a:r>
              <a:rPr lang="tr-TR" sz="1400" b="1" dirty="0"/>
              <a:t> </a:t>
            </a:r>
            <a:r>
              <a:rPr lang="tr-TR" sz="1400" dirty="0"/>
              <a:t>P</a:t>
            </a:r>
            <a:r>
              <a:rPr lang="en-GB" sz="1400" dirty="0"/>
              <a:t>L202</a:t>
            </a:r>
            <a:r>
              <a:rPr lang="tr-TR" sz="1400" dirty="0"/>
              <a:t> </a:t>
            </a:r>
            <a:r>
              <a:rPr lang="en-GB" sz="1400" dirty="0"/>
              <a:t>Compact Laser Module </a:t>
            </a:r>
            <a:r>
              <a:rPr lang="tr-TR" sz="1400" dirty="0"/>
              <a:t>(</a:t>
            </a:r>
            <a:r>
              <a:rPr lang="tr-TR" sz="1400" dirty="0">
                <a:hlinkClick r:id="rId4"/>
              </a:rPr>
              <a:t>PL202</a:t>
            </a:r>
            <a:r>
              <a:rPr lang="tr-TR" sz="1400" dirty="0"/>
              <a:t> 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en-GB" sz="1400" dirty="0"/>
              <a:t>with USB Connector, </a:t>
            </a:r>
            <a:endParaRPr lang="tr-TR" sz="1400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lang="en-GB" dirty="0"/>
              <a:t>• </a:t>
            </a:r>
            <a:r>
              <a:rPr lang="en-GB" sz="1400" dirty="0"/>
              <a:t>635 nm, 0.9 </a:t>
            </a:r>
            <a:r>
              <a:rPr lang="en-GB" sz="1400" dirty="0" err="1"/>
              <a:t>mW</a:t>
            </a:r>
            <a:r>
              <a:rPr lang="en-GB" sz="1400" dirty="0"/>
              <a:t> (Typ.)</a:t>
            </a:r>
            <a:endParaRPr lang="en-GB" sz="1400" b="1"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u="sng" dirty="0" err="1"/>
              <a:t>Ölçüm</a:t>
            </a:r>
            <a:r>
              <a:rPr u="sng" dirty="0"/>
              <a:t> </a:t>
            </a:r>
            <a:r>
              <a:rPr u="sng" dirty="0" err="1"/>
              <a:t>ortamı</a:t>
            </a:r>
            <a:r>
              <a:rPr u="sng" dirty="0"/>
              <a:t>: </a:t>
            </a:r>
            <a:r>
              <a:rPr dirty="0" err="1"/>
              <a:t>Karanlık</a:t>
            </a:r>
            <a:r>
              <a:rPr dirty="0"/>
              <a:t> </a:t>
            </a:r>
            <a:r>
              <a:rPr dirty="0" err="1"/>
              <a:t>oda</a:t>
            </a:r>
            <a:r>
              <a:rPr dirty="0"/>
              <a:t>, </a:t>
            </a:r>
            <a:r>
              <a:rPr dirty="0" err="1"/>
              <a:t>siyah</a:t>
            </a:r>
            <a:r>
              <a:rPr dirty="0"/>
              <a:t> bant </a:t>
            </a:r>
            <a:r>
              <a:rPr dirty="0" err="1"/>
              <a:t>yalıtım</a:t>
            </a:r>
            <a:endParaRPr dirty="0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5"/>
          <a:srcRect t="6855" r="3460"/>
          <a:stretch>
            <a:fillRect/>
          </a:stretch>
        </p:blipFill>
        <p:spPr>
          <a:xfrm>
            <a:off x="9785945" y="1760968"/>
            <a:ext cx="2001717" cy="3433435"/>
          </a:xfrm>
          <a:prstGeom prst="rect">
            <a:avLst/>
          </a:prstGeom>
        </p:spPr>
      </p:pic>
      <p:pic>
        <p:nvPicPr>
          <p:cNvPr id="10" name="Resim 1127004674">
            <a:extLst>
              <a:ext uri="{FF2B5EF4-FFF2-40B4-BE49-F238E27FC236}">
                <a16:creationId xmlns:a16="http://schemas.microsoft.com/office/drawing/2014/main" id="{0E6CE8BC-20A2-4F5A-FBFF-E3BB756E48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80265" y="1686312"/>
            <a:ext cx="4623339" cy="34700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6BAFB4-053D-925D-6C1E-64E7E844E77C}"/>
              </a:ext>
            </a:extLst>
          </p:cNvPr>
          <p:cNvSpPr txBox="1"/>
          <p:nvPr/>
        </p:nvSpPr>
        <p:spPr>
          <a:xfrm>
            <a:off x="6035040" y="5214729"/>
            <a:ext cx="6479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Kamera </a:t>
            </a:r>
            <a:r>
              <a:rPr lang="en-GB" sz="1200" dirty="0" err="1"/>
              <a:t>ve</a:t>
            </a:r>
            <a:r>
              <a:rPr lang="en-GB" sz="1200" dirty="0"/>
              <a:t> Gimbal </a:t>
            </a:r>
            <a:r>
              <a:rPr lang="en-GB" sz="1200" dirty="0" err="1"/>
              <a:t>Düzeneği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6BB7A6-6283-16D7-142A-A60B6B238F0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EED8B-C61E-81DE-2B57-645CE4DBC506}"/>
              </a:ext>
            </a:extLst>
          </p:cNvPr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999644-CF64-8399-F943-4E757C42B283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336-9F28-34B6-6DF4-110EACB004E5}"/>
              </a:ext>
            </a:extLst>
          </p:cNvPr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 lang="tr-TR" noProof="0" dirty="0"/>
              <a:t>TÜBİTAK UZAY — Star </a:t>
            </a:r>
            <a:r>
              <a:rPr lang="tr-TR" noProof="0" dirty="0" err="1"/>
              <a:t>Tracker</a:t>
            </a:r>
            <a:r>
              <a:rPr lang="tr-TR" noProof="0" dirty="0"/>
              <a:t> Optik Kalibrasyon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0DD52-4A42-EDA6-E244-E654FC87D827}"/>
              </a:ext>
            </a:extLst>
          </p:cNvPr>
          <p:cNvSpPr txBox="1"/>
          <p:nvPr/>
        </p:nvSpPr>
        <p:spPr>
          <a:xfrm>
            <a:off x="54864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tr-TR" sz="2800" noProof="0" dirty="0"/>
              <a:t>Beklenilen Optik Distorsiyon (</a:t>
            </a:r>
            <a:r>
              <a:rPr lang="tr-TR" sz="2800" noProof="0" dirty="0" err="1"/>
              <a:t>Datasheet</a:t>
            </a:r>
            <a:r>
              <a:rPr lang="tr-TR" sz="2800" noProof="0" dirty="0"/>
              <a:t> vs. Kalibrasyon Çıktısı)</a:t>
            </a:r>
            <a:endParaRPr lang="tr-TR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A7453F-C5FF-692E-1599-F1D79B1DB01A}"/>
                  </a:ext>
                </a:extLst>
              </p:cNvPr>
              <p:cNvSpPr txBox="1"/>
              <p:nvPr/>
            </p:nvSpPr>
            <p:spPr>
              <a:xfrm>
                <a:off x="548640" y="1280160"/>
                <a:ext cx="5298843" cy="4653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tr-TR" sz="1600" b="1" noProof="0" dirty="0">
                    <a:latin typeface="+mj-lt"/>
                  </a:rPr>
                  <a:t>Amaç:</a:t>
                </a:r>
                <a:r>
                  <a:rPr lang="tr-TR" sz="1600" noProof="0" dirty="0">
                    <a:latin typeface="+mj-lt"/>
                  </a:rPr>
                  <a:t> Bulduğumuz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600" noProof="0" smtClean="0">
                            <a:latin typeface="+mj-lt"/>
                          </a:rPr>
                        </m:ctrlPr>
                      </m:sSubPr>
                      <m:e>
                        <m:r>
                          <a:rPr lang="tr-TR" sz="1600" i="1" noProof="0" smtClean="0">
                            <a:latin typeface="+mj-lt"/>
                          </a:rPr>
                          <m:t>𝑘</m:t>
                        </m:r>
                      </m:e>
                      <m:sub>
                        <m:r>
                          <a:rPr lang="tr-TR" sz="1600" noProof="0" smtClean="0">
                            <a:latin typeface="+mj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sz="1600" noProof="0" dirty="0">
                    <a:latin typeface="+mj-lt"/>
                  </a:rPr>
                  <a:t> değerinin, üretici firmanın beyan ettiği </a:t>
                </a:r>
              </a:p>
              <a:p>
                <a:pPr algn="just"/>
                <a:r>
                  <a:rPr lang="tr-TR" sz="1600" noProof="0" dirty="0">
                    <a:latin typeface="+mj-lt"/>
                  </a:rPr>
                  <a:t>-3.10% distorsiyon oranıyla uyuşması.</a:t>
                </a:r>
              </a:p>
              <a:p>
                <a:pPr algn="just"/>
                <a:r>
                  <a:rPr lang="tr-TR" sz="1600" u="sng" noProof="0" dirty="0">
                    <a:latin typeface="+mj-lt"/>
                  </a:rPr>
                  <a:t>Distorsiyon (%) Hesaplama Formülü: 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sSubPr>
                        <m:e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𝑥</m:t>
                          </m:r>
                        </m:e>
                        <m:sub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𝑛𝑜𝑟𝑚</m:t>
                          </m:r>
                        </m:sub>
                      </m:sSub>
                      <m:r>
                        <a:rPr lang="tr-TR" b="0" i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=</m:t>
                      </m:r>
                      <m:f>
                        <m:f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fPr>
                        <m:num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1024</m:t>
                          </m:r>
                        </m:num>
                        <m:den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2252</m:t>
                          </m:r>
                        </m:den>
                      </m:f>
                      <m:r>
                        <a:rPr lang="tr-TR" b="0" i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≈0.454</m:t>
                      </m:r>
                    </m:oMath>
                  </m:oMathPara>
                </a14:m>
                <a:endParaRPr lang="tr-TR" i="1" noProof="0" dirty="0">
                  <a:solidFill>
                    <a:srgbClr val="002060"/>
                  </a:solidFill>
                  <a:latin typeface="+mj-lt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sSubPr>
                        <m:e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𝑦</m:t>
                          </m:r>
                        </m:e>
                        <m:sub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𝑛𝑜𝑟𝑚</m:t>
                          </m:r>
                        </m:sub>
                      </m:sSub>
                      <m:r>
                        <a:rPr lang="tr-TR" b="0" i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=</m:t>
                      </m:r>
                      <m:f>
                        <m:f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fPr>
                        <m:num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1024</m:t>
                          </m:r>
                        </m:num>
                        <m:den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2252</m:t>
                          </m:r>
                        </m:den>
                      </m:f>
                      <m:r>
                        <a:rPr lang="tr-TR" b="0" i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≈0.454</m:t>
                      </m:r>
                    </m:oMath>
                  </m:oMathPara>
                </a14:m>
                <a:endParaRPr lang="tr-TR" i="1" noProof="0" dirty="0">
                  <a:solidFill>
                    <a:srgbClr val="002060"/>
                  </a:solidFill>
                  <a:latin typeface="+mj-lt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sSupPr>
                        <m:e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𝑟</m:t>
                          </m:r>
                        </m:e>
                        <m:sup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2</m:t>
                          </m:r>
                        </m:sup>
                      </m:sSup>
                      <m:r>
                        <a:rPr lang="tr-TR" b="0" i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=</m:t>
                      </m:r>
                      <m:sSup>
                        <m:sSup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sSupPr>
                        <m:e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0.454</m:t>
                          </m:r>
                          <m:r>
                            <m:rPr>
                              <m:nor/>
                            </m:r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 </m:t>
                          </m:r>
                        </m:e>
                        <m:sup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2</m:t>
                          </m:r>
                        </m:sup>
                      </m:sSup>
                      <m:r>
                        <a:rPr lang="tr-TR" b="0" i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+</m:t>
                      </m:r>
                      <m:sSup>
                        <m:sSup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sSupPr>
                        <m:e>
                          <m:r>
                            <a:rPr lang="tr-TR" b="0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0.454</m:t>
                          </m:r>
                          <m:r>
                            <m:rPr>
                              <m:nor/>
                            </m:r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 </m:t>
                          </m:r>
                        </m:e>
                        <m:sup>
                          <m:r>
                            <a:rPr lang="tr-TR" b="0" i="1" noProof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2</m:t>
                          </m:r>
                        </m:sup>
                      </m:sSup>
                      <m:r>
                        <a:rPr lang="tr-TR" b="0" i="1" noProof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tr-TR" b="0" i="1" noProof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0.412</m:t>
                      </m:r>
                    </m:oMath>
                  </m:oMathPara>
                </a14:m>
                <a:endParaRPr lang="tr-TR" i="1" noProof="0" dirty="0">
                  <a:latin typeface="+mj-lt"/>
                </a:endParaRPr>
              </a:p>
              <a:p>
                <a:pPr algn="just"/>
                <a:r>
                  <a:rPr lang="tr-TR" u="sng" noProof="0" dirty="0">
                    <a:latin typeface="+mj-lt"/>
                  </a:rPr>
                  <a:t>Optik distorsiyon yüzdesi formülü: </a:t>
                </a:r>
                <a:endParaRPr lang="tr-TR" b="0" u="sng" noProof="0" dirty="0">
                  <a:latin typeface="+mj-lt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b="0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Distorsiyon</m:t>
                      </m:r>
                      <m:r>
                        <m:rPr>
                          <m:nor/>
                        </m:rPr>
                        <a:rPr lang="tr-TR" b="0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 (%)</m:t>
                      </m:r>
                      <m:r>
                        <a:rPr lang="tr-TR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=</m:t>
                      </m:r>
                      <m:d>
                        <m:d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tr-TR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1</m:t>
                              </m:r>
                            </m:sub>
                          </m:sSub>
                          <m:r>
                            <a:rPr lang="tr-TR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⋅</m:t>
                          </m:r>
                          <m:sSup>
                            <m:sSupPr>
                              <m:ctrlP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</m:ctrlPr>
                            </m:sSupPr>
                            <m:e>
                              <m: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tr-TR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2</m:t>
                              </m:r>
                            </m:sup>
                          </m:sSup>
                          <m:r>
                            <a:rPr lang="tr-TR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tr-TR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2</m:t>
                              </m:r>
                            </m:sub>
                          </m:sSub>
                          <m:r>
                            <a:rPr lang="tr-TR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⋅</m:t>
                          </m:r>
                          <m:sSup>
                            <m:sSupPr>
                              <m:ctrlP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</m:ctrlPr>
                            </m:sSupPr>
                            <m:e>
                              <m:r>
                                <a:rPr lang="tr-TR" i="1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tr-TR" noProof="0" smtClean="0">
                                  <a:solidFill>
                                    <a:srgbClr val="002060"/>
                                  </a:solidFill>
                                  <a:latin typeface="+mj-lt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tr-TR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×100</m:t>
                      </m:r>
                    </m:oMath>
                  </m:oMathPara>
                </a14:m>
                <a:endParaRPr lang="tr-TR" noProof="0" dirty="0">
                  <a:solidFill>
                    <a:srgbClr val="002060"/>
                  </a:solidFill>
                  <a:latin typeface="+mj-lt"/>
                </a:endParaRPr>
              </a:p>
              <a:p>
                <a:pPr algn="just"/>
                <a:r>
                  <a:rPr lang="tr-TR" noProof="0" dirty="0">
                    <a:latin typeface="+mj-lt"/>
                  </a:rPr>
                  <a:t>Çoğu zaman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noProof="0" smtClean="0">
                            <a:latin typeface="+mj-lt"/>
                          </a:rPr>
                        </m:ctrlPr>
                      </m:sSubPr>
                      <m:e>
                        <m:r>
                          <a:rPr lang="tr-TR" i="1" noProof="0" smtClean="0">
                            <a:latin typeface="+mj-lt"/>
                          </a:rPr>
                          <m:t>𝑘</m:t>
                        </m:r>
                      </m:e>
                      <m:sub>
                        <m:r>
                          <a:rPr lang="tr-TR" noProof="0" smtClean="0">
                            <a:latin typeface="+mj-lt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noProof="0" dirty="0">
                    <a:latin typeface="+mj-lt"/>
                  </a:rPr>
                  <a:t> çok küçük olduğu için onu göz ardı edilir: </a:t>
                </a:r>
                <a:endParaRPr lang="tr-TR" b="0" noProof="0" dirty="0">
                  <a:latin typeface="+mj-lt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b="0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Distorsiyon</m:t>
                      </m:r>
                      <m:r>
                        <m:rPr>
                          <m:nor/>
                        </m:rPr>
                        <a:rPr lang="tr-TR" b="0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 (%)</m:t>
                      </m:r>
                      <m:r>
                        <a:rPr lang="tr-TR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≈</m:t>
                      </m:r>
                      <m:sSub>
                        <m:sSubPr>
                          <m:ctrlP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</m:ctrlPr>
                        </m:sSubPr>
                        <m:e>
                          <m:r>
                            <a:rPr lang="tr-TR" i="1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𝑘</m:t>
                          </m:r>
                        </m:e>
                        <m:sub>
                          <m:r>
                            <a:rPr lang="tr-TR" noProof="0" smtClean="0">
                              <a:solidFill>
                                <a:srgbClr val="002060"/>
                              </a:solidFill>
                              <a:latin typeface="+mj-lt"/>
                            </a:rPr>
                            <m:t>1</m:t>
                          </m:r>
                        </m:sub>
                      </m:sSub>
                      <m:r>
                        <a:rPr lang="tr-TR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⋅0.412⋅100</m:t>
                      </m:r>
                    </m:oMath>
                  </m:oMathPara>
                </a14:m>
                <a:endParaRPr lang="tr-TR" noProof="0" dirty="0">
                  <a:solidFill>
                    <a:srgbClr val="002060"/>
                  </a:solidFill>
                  <a:latin typeface="+mj-lt"/>
                </a:endParaRPr>
              </a:p>
              <a:p>
                <a:pPr algn="just"/>
                <a:r>
                  <a:rPr lang="tr-TR" noProof="0" dirty="0">
                    <a:latin typeface="+mj-lt"/>
                  </a:rPr>
                  <a:t>Beklenilen örnek program çıktısı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1" noProof="0" smtClean="0">
                            <a:latin typeface="+mj-lt"/>
                          </a:rPr>
                        </m:ctrlPr>
                      </m:sSubPr>
                      <m:e>
                        <m:r>
                          <a:rPr lang="tr-TR" b="1" i="1" noProof="0" smtClean="0">
                            <a:latin typeface="+mj-lt"/>
                          </a:rPr>
                          <m:t>𝒌</m:t>
                        </m:r>
                      </m:e>
                      <m:sub>
                        <m:r>
                          <a:rPr lang="tr-TR" b="1" i="1" noProof="0" smtClean="0">
                            <a:latin typeface="+mj-lt"/>
                          </a:rPr>
                          <m:t>𝟏</m:t>
                        </m:r>
                      </m:sub>
                    </m:sSub>
                    <m:r>
                      <a:rPr lang="tr-TR" b="1" noProof="0" smtClean="0">
                        <a:latin typeface="+mj-lt"/>
                      </a:rPr>
                      <m:t>=−</m:t>
                    </m:r>
                    <m:r>
                      <a:rPr lang="tr-TR" b="1" i="1" noProof="0" smtClean="0">
                        <a:latin typeface="+mj-lt"/>
                      </a:rPr>
                      <m:t>𝟎</m:t>
                    </m:r>
                    <m:r>
                      <a:rPr lang="tr-TR" b="1" noProof="0" smtClean="0">
                        <a:latin typeface="+mj-lt"/>
                      </a:rPr>
                      <m:t>.</m:t>
                    </m:r>
                    <m:r>
                      <a:rPr lang="tr-TR" b="1" i="1" noProof="0" smtClean="0">
                        <a:latin typeface="+mj-lt"/>
                      </a:rPr>
                      <m:t>𝟎𝟕𝟓</m:t>
                    </m:r>
                  </m:oMath>
                </a14:m>
                <a:r>
                  <a:rPr lang="tr-TR" b="1" noProof="0" dirty="0">
                    <a:latin typeface="+mj-lt"/>
                  </a:rPr>
                  <a:t> </a:t>
                </a:r>
                <a:r>
                  <a:rPr lang="tr-TR" noProof="0" dirty="0">
                    <a:latin typeface="+mj-lt"/>
                  </a:rPr>
                  <a:t>ise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b="0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Distorsiyon</m:t>
                      </m:r>
                      <m:r>
                        <m:rPr>
                          <m:nor/>
                        </m:rPr>
                        <a:rPr lang="tr-TR" b="0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 (%)</m:t>
                      </m:r>
                      <m:r>
                        <a:rPr lang="tr-TR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=−0.075⋅0.412⋅100=−</m:t>
                      </m:r>
                      <m:r>
                        <a:rPr lang="tr-TR" b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𝟑</m:t>
                      </m:r>
                      <m:r>
                        <a:rPr lang="tr-TR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.</m:t>
                      </m:r>
                      <m:r>
                        <a:rPr lang="tr-TR" b="1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𝟎𝟗</m:t>
                      </m:r>
                      <m:r>
                        <a:rPr lang="tr-TR" noProof="0" smtClean="0">
                          <a:solidFill>
                            <a:srgbClr val="002060"/>
                          </a:solidFill>
                          <a:latin typeface="+mj-lt"/>
                        </a:rPr>
                        <m:t>%</m:t>
                      </m:r>
                    </m:oMath>
                  </m:oMathPara>
                </a14:m>
                <a:endParaRPr lang="tr-TR" noProof="0" dirty="0">
                  <a:solidFill>
                    <a:srgbClr val="002060"/>
                  </a:solidFill>
                  <a:latin typeface="+mj-lt"/>
                </a:endParaRPr>
              </a:p>
              <a:p>
                <a:br>
                  <a:rPr lang="tr-TR" noProof="0" dirty="0">
                    <a:latin typeface="+mj-lt"/>
                  </a:rPr>
                </a:br>
                <a:endParaRPr lang="tr-TR" sz="1600" noProof="0" dirty="0">
                  <a:latin typeface="+mj-lt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A7453F-C5FF-692E-1599-F1D79B1DB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280160"/>
                <a:ext cx="5298843" cy="4653005"/>
              </a:xfrm>
              <a:prstGeom prst="rect">
                <a:avLst/>
              </a:prstGeom>
              <a:blipFill>
                <a:blip r:embed="rId2"/>
                <a:stretch>
                  <a:fillRect l="-921" t="-393" r="-9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47E17E0-F7B3-D836-72AB-3BA0601D4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991" y="1731663"/>
            <a:ext cx="5814053" cy="16973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CBA372-19E8-9568-00A5-C88DB9D7048F}"/>
              </a:ext>
            </a:extLst>
          </p:cNvPr>
          <p:cNvSpPr/>
          <p:nvPr/>
        </p:nvSpPr>
        <p:spPr>
          <a:xfrm>
            <a:off x="7634657" y="2743205"/>
            <a:ext cx="4264270" cy="2637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A732D443-130C-542C-55F8-70D31F25D3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1FA941-C1D9-237A-9E8D-A3F486AF7E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54"/>
          <a:stretch>
            <a:fillRect/>
          </a:stretch>
        </p:blipFill>
        <p:spPr>
          <a:xfrm>
            <a:off x="7132760" y="3918603"/>
            <a:ext cx="3189410" cy="1453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1F85A9A-15EB-0F65-5507-F856822F026B}"/>
              </a:ext>
            </a:extLst>
          </p:cNvPr>
          <p:cNvSpPr/>
          <p:nvPr/>
        </p:nvSpPr>
        <p:spPr>
          <a:xfrm>
            <a:off x="7132760" y="4550317"/>
            <a:ext cx="1052878" cy="17994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10036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Optik Temeller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Pinhole Modeli ve Distorsiyon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5/25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39" y="1280160"/>
            <a:ext cx="6370907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Pinhole </a:t>
            </a:r>
            <a:r>
              <a:rPr dirty="0" err="1"/>
              <a:t>Modeli</a:t>
            </a:r>
            <a:r>
              <a:rPr dirty="0"/>
              <a:t>:  x' = X/Z = tan(</a:t>
            </a:r>
            <a:r>
              <a:rPr dirty="0" err="1"/>
              <a:t>θx</a:t>
            </a:r>
            <a:r>
              <a:rPr dirty="0"/>
              <a:t>),   y' = Y/Z = tan(</a:t>
            </a:r>
            <a:r>
              <a:rPr dirty="0" err="1"/>
              <a:t>θy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Piksel</a:t>
            </a:r>
            <a:r>
              <a:rPr dirty="0"/>
              <a:t> </a:t>
            </a:r>
            <a:r>
              <a:rPr dirty="0" err="1"/>
              <a:t>dönüşümü</a:t>
            </a:r>
            <a:r>
              <a:rPr dirty="0"/>
              <a:t>:  xu = </a:t>
            </a:r>
            <a:r>
              <a:rPr dirty="0" err="1"/>
              <a:t>fx·x</a:t>
            </a:r>
            <a:r>
              <a:rPr dirty="0"/>
              <a:t>' + cx,   </a:t>
            </a:r>
            <a:r>
              <a:rPr dirty="0" err="1"/>
              <a:t>yu</a:t>
            </a:r>
            <a:r>
              <a:rPr dirty="0"/>
              <a:t> = </a:t>
            </a:r>
            <a:r>
              <a:rPr dirty="0" err="1"/>
              <a:t>fy·y</a:t>
            </a:r>
            <a:r>
              <a:rPr dirty="0"/>
              <a:t>' + cy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Radyal</a:t>
            </a:r>
            <a:r>
              <a:rPr dirty="0"/>
              <a:t> </a:t>
            </a:r>
            <a:r>
              <a:rPr dirty="0" err="1"/>
              <a:t>Distorsiyon</a:t>
            </a:r>
            <a:r>
              <a:rPr dirty="0"/>
              <a:t> (Brown-Conrady):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x_dist</a:t>
            </a:r>
            <a:r>
              <a:rPr dirty="0"/>
              <a:t> = x'·(1 + k1·r² + k2·r⁴)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k1 &lt; 0 → Barrel (</a:t>
            </a:r>
            <a:r>
              <a:rPr dirty="0" err="1"/>
              <a:t>fıçı</a:t>
            </a:r>
            <a:r>
              <a:rPr dirty="0"/>
              <a:t>)   •   k1 &gt; 0 → Pincushion (</a:t>
            </a:r>
            <a:r>
              <a:rPr dirty="0" err="1"/>
              <a:t>yastık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Tanjansiyel</a:t>
            </a:r>
            <a:r>
              <a:rPr dirty="0"/>
              <a:t> </a:t>
            </a:r>
            <a:r>
              <a:rPr dirty="0" err="1"/>
              <a:t>Distorsiyon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p1, p2: </a:t>
            </a:r>
            <a:r>
              <a:rPr dirty="0" err="1"/>
              <a:t>Lensin</a:t>
            </a:r>
            <a:r>
              <a:rPr dirty="0"/>
              <a:t> </a:t>
            </a:r>
            <a:r>
              <a:rPr dirty="0" err="1"/>
              <a:t>eksene</a:t>
            </a:r>
            <a:r>
              <a:rPr dirty="0"/>
              <a:t> tam </a:t>
            </a:r>
            <a:r>
              <a:rPr dirty="0" err="1"/>
              <a:t>hizalanmamasından</a:t>
            </a:r>
            <a:r>
              <a:rPr dirty="0"/>
              <a:t> </a:t>
            </a:r>
            <a:r>
              <a:rPr dirty="0" err="1"/>
              <a:t>kaynaklı</a:t>
            </a:r>
            <a:r>
              <a:rPr dirty="0"/>
              <a:t> </a:t>
            </a:r>
            <a:r>
              <a:rPr dirty="0" err="1"/>
              <a:t>asimetrik</a:t>
            </a:r>
            <a:r>
              <a:rPr dirty="0"/>
              <a:t> </a:t>
            </a:r>
            <a:r>
              <a:rPr dirty="0" err="1"/>
              <a:t>kayma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Tam </a:t>
            </a:r>
            <a:r>
              <a:rPr dirty="0" err="1"/>
              <a:t>akış</a:t>
            </a:r>
            <a:r>
              <a:rPr dirty="0"/>
              <a:t>:  </a:t>
            </a:r>
            <a:r>
              <a:rPr dirty="0" err="1"/>
              <a:t>Açı</a:t>
            </a:r>
            <a:r>
              <a:rPr dirty="0"/>
              <a:t> → Normalize → </a:t>
            </a:r>
            <a:r>
              <a:rPr dirty="0" err="1"/>
              <a:t>Distorsiyon</a:t>
            </a:r>
            <a:r>
              <a:rPr dirty="0"/>
              <a:t> → </a:t>
            </a:r>
            <a:r>
              <a:rPr dirty="0" err="1"/>
              <a:t>Piksel</a:t>
            </a:r>
            <a:r>
              <a:rPr dirty="0"/>
              <a:t> (K </a:t>
            </a:r>
            <a:r>
              <a:rPr dirty="0" err="1"/>
              <a:t>matrisi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25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6B"/>
                </a:solidFill>
                <a:latin typeface="Calibri"/>
              </a:defRPr>
            </a:pPr>
            <a:r>
              <a:rPr dirty="0" err="1"/>
              <a:t>Distorsiyon</a:t>
            </a:r>
            <a:r>
              <a:rPr dirty="0"/>
              <a:t> </a:t>
            </a:r>
            <a:r>
              <a:rPr dirty="0" err="1"/>
              <a:t>Akışı</a:t>
            </a:r>
            <a:r>
              <a:rPr dirty="0"/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916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1) </a:t>
            </a:r>
            <a:r>
              <a:rPr dirty="0" err="1"/>
              <a:t>θx</a:t>
            </a:r>
            <a:r>
              <a:rPr dirty="0"/>
              <a:t>, </a:t>
            </a:r>
            <a:r>
              <a:rPr dirty="0" err="1"/>
              <a:t>θy</a:t>
            </a:r>
            <a:r>
              <a:rPr dirty="0"/>
              <a:t> → normalize et (tan)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2) </a:t>
            </a:r>
            <a:r>
              <a:rPr dirty="0" err="1"/>
              <a:t>Radyal</a:t>
            </a:r>
            <a:r>
              <a:rPr dirty="0"/>
              <a:t> + </a:t>
            </a:r>
            <a:r>
              <a:rPr dirty="0" err="1"/>
              <a:t>Tanjansiyel</a:t>
            </a:r>
            <a:r>
              <a:rPr dirty="0"/>
              <a:t> </a:t>
            </a:r>
            <a:r>
              <a:rPr dirty="0" err="1"/>
              <a:t>uygula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3) K </a:t>
            </a:r>
            <a:r>
              <a:rPr dirty="0" err="1"/>
              <a:t>matrisi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piksele</a:t>
            </a:r>
            <a:r>
              <a:rPr dirty="0"/>
              <a:t> </a:t>
            </a:r>
            <a:r>
              <a:rPr dirty="0" err="1"/>
              <a:t>dönüştür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8 </a:t>
            </a:r>
            <a:r>
              <a:rPr dirty="0" err="1"/>
              <a:t>bilinmeyen</a:t>
            </a:r>
            <a:r>
              <a:rPr dirty="0"/>
              <a:t> </a:t>
            </a:r>
            <a:r>
              <a:rPr dirty="0" err="1"/>
              <a:t>parametre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fx</a:t>
            </a:r>
            <a:r>
              <a:rPr dirty="0"/>
              <a:t>, </a:t>
            </a:r>
            <a:r>
              <a:rPr dirty="0" err="1"/>
              <a:t>fy</a:t>
            </a:r>
            <a:r>
              <a:rPr dirty="0"/>
              <a:t>, cx, cy, k1, k2, p1, p2</a:t>
            </a:r>
          </a:p>
        </p:txBody>
      </p:sp>
      <p:pic>
        <p:nvPicPr>
          <p:cNvPr id="12" name="Resim 1071056548">
            <a:extLst>
              <a:ext uri="{FF2B5EF4-FFF2-40B4-BE49-F238E27FC236}">
                <a16:creationId xmlns:a16="http://schemas.microsoft.com/office/drawing/2014/main" id="{7EFB4783-F15E-188C-5AF5-C827C046E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8024" y="4018640"/>
            <a:ext cx="4292846" cy="2212722"/>
          </a:xfrm>
          <a:prstGeom prst="rect">
            <a:avLst/>
          </a:prstGeom>
        </p:spPr>
      </p:pic>
      <p:pic>
        <p:nvPicPr>
          <p:cNvPr id="13" name="Resim 537973413">
            <a:extLst>
              <a:ext uri="{FF2B5EF4-FFF2-40B4-BE49-F238E27FC236}">
                <a16:creationId xmlns:a16="http://schemas.microsoft.com/office/drawing/2014/main" id="{9A78AA65-A75B-1803-033F-FA871135B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8332" y="3871869"/>
            <a:ext cx="3978312" cy="2391771"/>
          </a:xfrm>
          <a:prstGeom prst="rect">
            <a:avLst/>
          </a:prstGeom>
        </p:spPr>
      </p:pic>
      <p:pic>
        <p:nvPicPr>
          <p:cNvPr id="15" name="Resim 1750892501">
            <a:extLst>
              <a:ext uri="{FF2B5EF4-FFF2-40B4-BE49-F238E27FC236}">
                <a16:creationId xmlns:a16="http://schemas.microsoft.com/office/drawing/2014/main" id="{7E386038-FECB-F67A-0E8E-908E8C2E0A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80290" y="5852160"/>
            <a:ext cx="2191804" cy="525780"/>
          </a:xfrm>
          <a:prstGeom prst="rect">
            <a:avLst/>
          </a:prstGeom>
        </p:spPr>
      </p:pic>
      <p:pic>
        <p:nvPicPr>
          <p:cNvPr id="16" name="Resim 1400316794">
            <a:extLst>
              <a:ext uri="{FF2B5EF4-FFF2-40B4-BE49-F238E27FC236}">
                <a16:creationId xmlns:a16="http://schemas.microsoft.com/office/drawing/2014/main" id="{9A2F8C03-F97E-C81E-2594-83F4F3FA9A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46709" y="4954507"/>
            <a:ext cx="2472837" cy="3398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Deneysel</a:t>
            </a:r>
            <a:r>
              <a:rPr dirty="0"/>
              <a:t> </a:t>
            </a:r>
            <a:r>
              <a:rPr dirty="0" err="1"/>
              <a:t>Yöntem</a:t>
            </a:r>
            <a:r>
              <a:rPr dirty="0"/>
              <a:t>: Grid Tarama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Gimbal-Lazer Tarama Stratejisi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6/25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Gimbal, N×N </a:t>
            </a:r>
            <a:r>
              <a:rPr dirty="0" err="1"/>
              <a:t>ızgara</a:t>
            </a:r>
            <a:r>
              <a:rPr dirty="0"/>
              <a:t> </a:t>
            </a:r>
            <a:r>
              <a:rPr dirty="0" err="1"/>
              <a:t>üzerinde</a:t>
            </a:r>
            <a:r>
              <a:rPr dirty="0"/>
              <a:t> </a:t>
            </a:r>
            <a:r>
              <a:rPr dirty="0" err="1"/>
              <a:t>lazer</a:t>
            </a:r>
            <a:r>
              <a:rPr dirty="0"/>
              <a:t> </a:t>
            </a:r>
            <a:r>
              <a:rPr dirty="0" err="1"/>
              <a:t>noktasını</a:t>
            </a:r>
            <a:r>
              <a:rPr dirty="0"/>
              <a:t> </a:t>
            </a:r>
            <a:r>
              <a:rPr dirty="0" err="1"/>
              <a:t>sistematik</a:t>
            </a:r>
            <a:r>
              <a:rPr dirty="0"/>
              <a:t> </a:t>
            </a:r>
            <a:r>
              <a:rPr dirty="0" err="1"/>
              <a:t>tarar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Her </a:t>
            </a:r>
            <a:r>
              <a:rPr dirty="0" err="1"/>
              <a:t>noktada</a:t>
            </a:r>
            <a:r>
              <a:rPr dirty="0"/>
              <a:t>: G-code </a:t>
            </a:r>
            <a:r>
              <a:rPr dirty="0" err="1"/>
              <a:t>hareket</a:t>
            </a:r>
            <a:r>
              <a:rPr dirty="0"/>
              <a:t> → M400 </a:t>
            </a:r>
            <a:r>
              <a:rPr dirty="0" err="1"/>
              <a:t>senkronizasyon</a:t>
            </a:r>
            <a:r>
              <a:rPr dirty="0"/>
              <a:t> → </a:t>
            </a:r>
            <a:r>
              <a:rPr dirty="0" err="1"/>
              <a:t>Titreşim</a:t>
            </a:r>
            <a:r>
              <a:rPr dirty="0"/>
              <a:t> </a:t>
            </a:r>
            <a:r>
              <a:rPr dirty="0" err="1"/>
              <a:t>bekleme</a:t>
            </a:r>
            <a:r>
              <a:rPr dirty="0"/>
              <a:t> → </a:t>
            </a:r>
            <a:r>
              <a:rPr dirty="0" err="1"/>
              <a:t>Fotoğraf</a:t>
            </a:r>
            <a:endParaRPr lang="tr-TR" dirty="0"/>
          </a:p>
          <a:p>
            <a:pPr lvl="0"/>
            <a:r>
              <a:rPr lang="tr-TR" sz="1400" dirty="0"/>
              <a:t>G28 — </a:t>
            </a:r>
            <a:r>
              <a:rPr lang="tr-TR" sz="1400" dirty="0" err="1"/>
              <a:t>Homing</a:t>
            </a:r>
            <a:r>
              <a:rPr lang="tr-TR" sz="1400" dirty="0"/>
              <a:t>.</a:t>
            </a:r>
            <a:endParaRPr lang="en-GB" sz="1400" dirty="0"/>
          </a:p>
          <a:p>
            <a:pPr lvl="0"/>
            <a:r>
              <a:rPr lang="tr-TR" sz="1400" dirty="0"/>
              <a:t>G90 / G91 — Mutlak / göreli konumlandırma.</a:t>
            </a:r>
            <a:endParaRPr lang="en-GB" sz="1400" dirty="0"/>
          </a:p>
          <a:p>
            <a:pPr lvl="0"/>
            <a:r>
              <a:rPr lang="tr-TR" sz="1400" dirty="0"/>
              <a:t>G1 X.. Y.. F.. — Belirtilen hızda (F, mm/dk) hedef konuma doğrusal hareket.</a:t>
            </a:r>
            <a:endParaRPr lang="en-GB" sz="1400" dirty="0"/>
          </a:p>
          <a:p>
            <a:pPr lvl="0"/>
            <a:r>
              <a:rPr lang="tr-TR" sz="1400" dirty="0"/>
              <a:t>M400 — Hareket kuyruğunun tamamen bitmesini bekle (senkronizasyon).</a:t>
            </a:r>
            <a:endParaRPr lang="en-GB" sz="1400" dirty="0"/>
          </a:p>
          <a:p>
            <a:pPr lvl="0"/>
            <a:r>
              <a:rPr lang="tr-TR" sz="1400" dirty="0"/>
              <a:t>M114 — Denetleyicinin bildirdiği güncel eksen konumunu oku (doğrulama).</a:t>
            </a:r>
            <a:endParaRPr lang="en-GB" sz="1400"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Centroid (</a:t>
            </a:r>
            <a:r>
              <a:rPr dirty="0" err="1"/>
              <a:t>ağırlık</a:t>
            </a:r>
            <a:r>
              <a:rPr dirty="0"/>
              <a:t> </a:t>
            </a:r>
            <a:r>
              <a:rPr dirty="0" err="1"/>
              <a:t>merkezi</a:t>
            </a:r>
            <a:r>
              <a:rPr dirty="0"/>
              <a:t>) </a:t>
            </a:r>
            <a:r>
              <a:rPr dirty="0" err="1"/>
              <a:t>ile</a:t>
            </a:r>
            <a:r>
              <a:rPr dirty="0"/>
              <a:t> subpixel </a:t>
            </a:r>
            <a:r>
              <a:rPr dirty="0" err="1"/>
              <a:t>hassasiyetinde</a:t>
            </a:r>
            <a:r>
              <a:rPr dirty="0"/>
              <a:t> </a:t>
            </a:r>
            <a:r>
              <a:rPr dirty="0" err="1"/>
              <a:t>piksel</a:t>
            </a:r>
            <a:r>
              <a:rPr dirty="0"/>
              <a:t> </a:t>
            </a:r>
            <a:r>
              <a:rPr dirty="0" err="1"/>
              <a:t>konumu</a:t>
            </a:r>
            <a:r>
              <a:rPr dirty="0"/>
              <a:t> </a:t>
            </a:r>
            <a:r>
              <a:rPr dirty="0" err="1"/>
              <a:t>ölçülür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Grid </a:t>
            </a:r>
            <a:r>
              <a:rPr dirty="0" err="1"/>
              <a:t>parametreleri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 ▸ </a:t>
            </a:r>
            <a:r>
              <a:rPr dirty="0" err="1"/>
              <a:t>Güvenli</a:t>
            </a:r>
            <a:r>
              <a:rPr dirty="0"/>
              <a:t> </a:t>
            </a:r>
            <a:r>
              <a:rPr dirty="0" err="1"/>
              <a:t>sınırlar</a:t>
            </a:r>
            <a:r>
              <a:rPr dirty="0"/>
              <a:t>: X = ±80 mm, Y = ±30 mm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 ▸ </a:t>
            </a:r>
            <a:r>
              <a:rPr dirty="0" err="1"/>
              <a:t>Ortak</a:t>
            </a:r>
            <a:r>
              <a:rPr dirty="0"/>
              <a:t> </a:t>
            </a:r>
            <a:r>
              <a:rPr dirty="0" err="1"/>
              <a:t>adım</a:t>
            </a:r>
            <a:r>
              <a:rPr dirty="0"/>
              <a:t> </a:t>
            </a:r>
            <a:r>
              <a:rPr dirty="0" err="1"/>
              <a:t>çözünürlüğü</a:t>
            </a:r>
            <a:r>
              <a:rPr dirty="0"/>
              <a:t>: 0.02 mm (EKOK)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 ▸ Test </a:t>
            </a:r>
            <a:r>
              <a:rPr dirty="0" err="1"/>
              <a:t>edilen</a:t>
            </a:r>
            <a:r>
              <a:rPr dirty="0"/>
              <a:t> grid </a:t>
            </a:r>
            <a:r>
              <a:rPr dirty="0" err="1"/>
              <a:t>boyutları</a:t>
            </a:r>
            <a:r>
              <a:rPr dirty="0"/>
              <a:t>: 7×7, 10×10, 15×15, 30×30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Least-squares </a:t>
            </a:r>
            <a:r>
              <a:rPr dirty="0" err="1"/>
              <a:t>optimizasyon</a:t>
            </a:r>
            <a:r>
              <a:rPr dirty="0"/>
              <a:t> (Levenberg-Marquardt):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 ▸ </a:t>
            </a:r>
            <a:r>
              <a:rPr dirty="0" err="1"/>
              <a:t>Ölçülen</a:t>
            </a:r>
            <a:r>
              <a:rPr dirty="0"/>
              <a:t> </a:t>
            </a:r>
            <a:r>
              <a:rPr dirty="0" err="1"/>
              <a:t>piksel</a:t>
            </a:r>
            <a:r>
              <a:rPr dirty="0"/>
              <a:t> ↔ </a:t>
            </a:r>
            <a:r>
              <a:rPr dirty="0" err="1"/>
              <a:t>Modelin</a:t>
            </a:r>
            <a:r>
              <a:rPr dirty="0"/>
              <a:t> </a:t>
            </a:r>
            <a:r>
              <a:rPr dirty="0" err="1"/>
              <a:t>tahmini</a:t>
            </a:r>
            <a:r>
              <a:rPr dirty="0"/>
              <a:t> </a:t>
            </a:r>
            <a:r>
              <a:rPr dirty="0" err="1"/>
              <a:t>arasındaki</a:t>
            </a:r>
            <a:r>
              <a:rPr dirty="0"/>
              <a:t> </a:t>
            </a:r>
            <a:r>
              <a:rPr dirty="0" err="1"/>
              <a:t>farkı</a:t>
            </a:r>
            <a:r>
              <a:rPr dirty="0"/>
              <a:t> minimize </a:t>
            </a:r>
            <a:r>
              <a:rPr dirty="0" err="1"/>
              <a:t>eder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 ▸ RMS </a:t>
            </a:r>
            <a:r>
              <a:rPr dirty="0" err="1"/>
              <a:t>hata</a:t>
            </a:r>
            <a:r>
              <a:rPr dirty="0"/>
              <a:t>: Model </a:t>
            </a:r>
            <a:r>
              <a:rPr dirty="0" err="1"/>
              <a:t>uyumunun</a:t>
            </a:r>
            <a:r>
              <a:rPr dirty="0"/>
              <a:t> </a:t>
            </a:r>
            <a:r>
              <a:rPr dirty="0" err="1"/>
              <a:t>kalite</a:t>
            </a:r>
            <a:r>
              <a:rPr dirty="0"/>
              <a:t> </a:t>
            </a:r>
            <a:r>
              <a:rPr dirty="0" err="1"/>
              <a:t>göstergesi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8D1271-7348-C4F1-2F17-36A70438FD5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E8BDD-C918-418E-B3C3-66D12E45BAB2}"/>
              </a:ext>
            </a:extLst>
          </p:cNvPr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B719C-C4C3-2AED-25B7-16F04B204D7C}"/>
              </a:ext>
            </a:extLst>
          </p:cNvPr>
          <p:cNvSpPr txBox="1"/>
          <p:nvPr/>
        </p:nvSpPr>
        <p:spPr>
          <a:xfrm>
            <a:off x="54864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tr-TR" dirty="0" err="1"/>
              <a:t>Find</a:t>
            </a:r>
            <a:r>
              <a:rPr lang="tr-TR" dirty="0"/>
              <a:t> Center </a:t>
            </a:r>
            <a:r>
              <a:rPr lang="tr-TR" dirty="0" err="1"/>
              <a:t>xy</a:t>
            </a:r>
            <a:r>
              <a:rPr lang="tr-TR" dirty="0"/>
              <a:t> Algoritması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EF86E-FD22-49A8-CD67-8938077AB3C9}"/>
              </a:ext>
            </a:extLst>
          </p:cNvPr>
          <p:cNvSpPr txBox="1"/>
          <p:nvPr/>
        </p:nvSpPr>
        <p:spPr>
          <a:xfrm>
            <a:off x="548640" y="59436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rPr lang="tr-TR" dirty="0"/>
              <a:t>Kamera ve Lazeri </a:t>
            </a:r>
            <a:r>
              <a:rPr lang="tr-TR" dirty="0" err="1"/>
              <a:t>Hizlama</a:t>
            </a:r>
            <a:r>
              <a:rPr lang="tr-TR" dirty="0"/>
              <a:t> Arayüzü</a:t>
            </a:r>
            <a:endParaRPr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55E0C86-E6D4-02EB-36EE-2BE8DE22B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15" y="1247597"/>
            <a:ext cx="10405331" cy="49283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15553C2-B41D-8D10-2F43-1EC932A13BB9}"/>
              </a:ext>
            </a:extLst>
          </p:cNvPr>
          <p:cNvSpPr/>
          <p:nvPr/>
        </p:nvSpPr>
        <p:spPr>
          <a:xfrm>
            <a:off x="305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D59AC-8A6E-D744-058E-314D692AA2AD}"/>
              </a:ext>
            </a:extLst>
          </p:cNvPr>
          <p:cNvSpPr txBox="1"/>
          <p:nvPr/>
        </p:nvSpPr>
        <p:spPr>
          <a:xfrm>
            <a:off x="334108" y="6528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TÜBİTAK UZAY — Star Tracker Optik </a:t>
            </a:r>
            <a:r>
              <a:rPr dirty="0" err="1"/>
              <a:t>Kalibrasyon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521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Sorun</a:t>
            </a:r>
            <a:r>
              <a:rPr dirty="0"/>
              <a:t> 1: </a:t>
            </a:r>
            <a:r>
              <a:rPr dirty="0" err="1"/>
              <a:t>Eksenler</a:t>
            </a:r>
            <a:r>
              <a:rPr dirty="0"/>
              <a:t> </a:t>
            </a:r>
            <a:r>
              <a:rPr dirty="0" err="1"/>
              <a:t>Arası</a:t>
            </a:r>
            <a:r>
              <a:rPr dirty="0"/>
              <a:t> </a:t>
            </a:r>
            <a:r>
              <a:rPr dirty="0" err="1"/>
              <a:t>Açısal</a:t>
            </a:r>
            <a:r>
              <a:rPr dirty="0"/>
              <a:t> </a:t>
            </a:r>
            <a:r>
              <a:rPr dirty="0" err="1"/>
              <a:t>Eşitsizlik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rPr dirty="0"/>
              <a:t>X </a:t>
            </a:r>
            <a:r>
              <a:rPr dirty="0" err="1"/>
              <a:t>ve</a:t>
            </a:r>
            <a:r>
              <a:rPr dirty="0"/>
              <a:t> Y </a:t>
            </a:r>
            <a:r>
              <a:rPr dirty="0" err="1"/>
              <a:t>eksenleri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açısal</a:t>
            </a:r>
            <a:r>
              <a:rPr dirty="0"/>
              <a:t> </a:t>
            </a:r>
            <a:r>
              <a:rPr dirty="0" err="1"/>
              <a:t>alanı</a:t>
            </a:r>
            <a:r>
              <a:rPr dirty="0"/>
              <a:t> </a:t>
            </a:r>
            <a:r>
              <a:rPr dirty="0" err="1"/>
              <a:t>taramıyor</a:t>
            </a:r>
            <a:r>
              <a:rPr dirty="0"/>
              <a:t>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7/25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457200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Problem: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X: 1°/5.0 mm = 0.20°/mm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Y: 1°/2.37 mm = 0.42°/mm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→ </a:t>
            </a:r>
            <a:r>
              <a:rPr dirty="0" err="1"/>
              <a:t>Aynı</a:t>
            </a:r>
            <a:r>
              <a:rPr dirty="0"/>
              <a:t> mm </a:t>
            </a:r>
            <a:r>
              <a:rPr dirty="0" err="1"/>
              <a:t>hareket</a:t>
            </a:r>
            <a:r>
              <a:rPr dirty="0"/>
              <a:t> ≠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açı</a:t>
            </a:r>
            <a:r>
              <a:rPr dirty="0"/>
              <a:t>!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Belirti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Izgara</a:t>
            </a:r>
            <a:r>
              <a:rPr dirty="0"/>
              <a:t> </a:t>
            </a:r>
            <a:r>
              <a:rPr dirty="0" err="1"/>
              <a:t>dikdörtgen</a:t>
            </a:r>
            <a:r>
              <a:rPr dirty="0"/>
              <a:t> / </a:t>
            </a:r>
            <a:r>
              <a:rPr dirty="0" err="1"/>
              <a:t>yelpaze</a:t>
            </a:r>
            <a:r>
              <a:rPr dirty="0"/>
              <a:t> </a:t>
            </a:r>
            <a:r>
              <a:rPr dirty="0" err="1"/>
              <a:t>biçimli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RMS = 245.68 </a:t>
            </a:r>
            <a:r>
              <a:rPr dirty="0" err="1"/>
              <a:t>px</a:t>
            </a:r>
            <a:r>
              <a:rPr dirty="0"/>
              <a:t> (</a:t>
            </a:r>
            <a:r>
              <a:rPr dirty="0" err="1"/>
              <a:t>yüksek</a:t>
            </a:r>
            <a:r>
              <a:rPr dirty="0"/>
              <a:t>!)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Çözüm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Her </a:t>
            </a:r>
            <a:r>
              <a:rPr dirty="0" err="1"/>
              <a:t>eksene</a:t>
            </a:r>
            <a:r>
              <a:rPr dirty="0"/>
              <a:t> </a:t>
            </a:r>
            <a:r>
              <a:rPr dirty="0" err="1"/>
              <a:t>ayrı</a:t>
            </a:r>
            <a:r>
              <a:rPr dirty="0"/>
              <a:t> DEG_PER_MM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katsayısı</a:t>
            </a:r>
            <a:r>
              <a:rPr dirty="0"/>
              <a:t> </a:t>
            </a:r>
            <a:r>
              <a:rPr dirty="0" err="1"/>
              <a:t>atandı</a:t>
            </a:r>
            <a:r>
              <a:rPr dirty="0"/>
              <a:t> (</a:t>
            </a:r>
            <a:r>
              <a:rPr dirty="0" err="1"/>
              <a:t>Hassasiyet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Raporu'ndan</a:t>
            </a:r>
            <a:r>
              <a:rPr dirty="0"/>
              <a:t> </a:t>
            </a:r>
            <a:r>
              <a:rPr dirty="0" err="1"/>
              <a:t>alınan</a:t>
            </a:r>
            <a:r>
              <a:rPr dirty="0"/>
              <a:t> </a:t>
            </a:r>
            <a:r>
              <a:rPr dirty="0" err="1"/>
              <a:t>değerler</a:t>
            </a:r>
            <a:r>
              <a:rPr dirty="0"/>
              <a:t>)</a:t>
            </a:r>
            <a:r>
              <a:rPr lang="tr-TR" dirty="0"/>
              <a:t> 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43600" y="1397328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rPr lang="tr-TR" sz="1200" i="1" dirty="0"/>
              <a:t>İlk tarama denemesinde elde edilen, yelpaze (fan) benzeri düzensiz nokta örgüsü.</a:t>
            </a:r>
            <a:endParaRPr dirty="0"/>
          </a:p>
        </p:txBody>
      </p:sp>
      <p:pic>
        <p:nvPicPr>
          <p:cNvPr id="11" name="Resim 910394423">
            <a:extLst>
              <a:ext uri="{FF2B5EF4-FFF2-40B4-BE49-F238E27FC236}">
                <a16:creationId xmlns:a16="http://schemas.microsoft.com/office/drawing/2014/main" id="{491342CA-377D-FA0C-CE04-6654B6D9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79700" y="1763088"/>
            <a:ext cx="1614200" cy="437253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611EE6-4CE0-9115-9C13-C8CC17E69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31334"/>
              </p:ext>
            </p:extLst>
          </p:nvPr>
        </p:nvGraphicFramePr>
        <p:xfrm>
          <a:off x="633046" y="4829070"/>
          <a:ext cx="6286500" cy="14345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3641785085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47685472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62900680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3320117826"/>
                    </a:ext>
                  </a:extLst>
                </a:gridCol>
              </a:tblGrid>
              <a:tr h="3443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fx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2821.687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fy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-2567.920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317367527"/>
                  </a:ext>
                </a:extLst>
              </a:tr>
              <a:tr h="268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cx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1167.522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1174.282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28355817"/>
                  </a:ext>
                </a:extLst>
              </a:tr>
              <a:tr h="268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-26.7277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215.086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650881985"/>
                  </a:ext>
                </a:extLst>
              </a:tr>
              <a:tr h="268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0.3886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-0.2931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44651214"/>
                  </a:ext>
                </a:extLst>
              </a:tr>
              <a:tr h="285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RMS (px)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245.6768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3952236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74A2B3-6C38-A03B-3886-2288A749E9F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D092D-9337-D545-84A6-C96108033E51}"/>
              </a:ext>
            </a:extLst>
          </p:cNvPr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Sorun</a:t>
            </a:r>
            <a:r>
              <a:rPr dirty="0"/>
              <a:t> 1: </a:t>
            </a:r>
            <a:r>
              <a:rPr dirty="0" err="1"/>
              <a:t>Eksenler</a:t>
            </a:r>
            <a:r>
              <a:rPr dirty="0"/>
              <a:t> </a:t>
            </a:r>
            <a:r>
              <a:rPr dirty="0" err="1"/>
              <a:t>Arası</a:t>
            </a:r>
            <a:r>
              <a:rPr dirty="0"/>
              <a:t> </a:t>
            </a:r>
            <a:r>
              <a:rPr dirty="0" err="1"/>
              <a:t>Açısal</a:t>
            </a:r>
            <a:r>
              <a:rPr dirty="0"/>
              <a:t> </a:t>
            </a:r>
            <a:r>
              <a:rPr dirty="0" err="1"/>
              <a:t>Eşitsizlik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18CB1-A1AF-6C69-A8AB-92BEDE1ACC0F}"/>
              </a:ext>
            </a:extLst>
          </p:cNvPr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rPr dirty="0"/>
              <a:t>X </a:t>
            </a:r>
            <a:r>
              <a:rPr dirty="0" err="1"/>
              <a:t>ve</a:t>
            </a:r>
            <a:r>
              <a:rPr dirty="0"/>
              <a:t> Y </a:t>
            </a:r>
            <a:r>
              <a:rPr dirty="0" err="1"/>
              <a:t>eksenleri</a:t>
            </a:r>
            <a:r>
              <a:rPr dirty="0"/>
              <a:t> </a:t>
            </a:r>
            <a:r>
              <a:rPr dirty="0" err="1"/>
              <a:t>aynı</a:t>
            </a:r>
            <a:r>
              <a:rPr dirty="0"/>
              <a:t> </a:t>
            </a:r>
            <a:r>
              <a:rPr dirty="0" err="1"/>
              <a:t>açısal</a:t>
            </a:r>
            <a:r>
              <a:rPr dirty="0"/>
              <a:t> </a:t>
            </a:r>
            <a:r>
              <a:rPr dirty="0" err="1"/>
              <a:t>alanı</a:t>
            </a:r>
            <a:r>
              <a:rPr dirty="0"/>
              <a:t> </a:t>
            </a:r>
            <a:r>
              <a:rPr dirty="0" err="1"/>
              <a:t>taramıyor</a:t>
            </a:r>
            <a:r>
              <a:rPr dirty="0"/>
              <a:t>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A6C93-62BF-3C27-6ED1-6D84380FC6CA}"/>
              </a:ext>
            </a:extLst>
          </p:cNvPr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4A24E-FD7A-F923-F854-0322E1F9DFEE}"/>
              </a:ext>
            </a:extLst>
          </p:cNvPr>
          <p:cNvSpPr txBox="1"/>
          <p:nvPr/>
        </p:nvSpPr>
        <p:spPr>
          <a:xfrm>
            <a:off x="548639" y="1463040"/>
            <a:ext cx="4594861" cy="2634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500" dirty="0"/>
              <a:t>Gerçekte Y ekseni (DEG_PER_MM_Y = 1/2.37) X eksenine (DEG_PER_MM_X = 1/5.0) göre birim mm başına yaklaşık 2.1 kat daha fazla açısal hareket ürettiğinden, ızgara dikey yönde aşırı uzamış.</a:t>
            </a:r>
            <a:r>
              <a:rPr dirty="0"/>
              <a:t> </a:t>
            </a:r>
            <a:endParaRPr lang="tr-TR" dirty="0"/>
          </a:p>
          <a:p>
            <a:pPr algn="just">
              <a:lnSpc>
                <a:spcPct val="15000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Çözüm</a:t>
            </a:r>
            <a:r>
              <a:rPr dirty="0"/>
              <a:t>: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Her </a:t>
            </a:r>
            <a:r>
              <a:rPr dirty="0" err="1"/>
              <a:t>eksene</a:t>
            </a:r>
            <a:r>
              <a:rPr dirty="0"/>
              <a:t> </a:t>
            </a:r>
            <a:r>
              <a:rPr dirty="0" err="1"/>
              <a:t>ayrı</a:t>
            </a:r>
            <a:r>
              <a:rPr dirty="0"/>
              <a:t> DEG_PER_MM</a:t>
            </a:r>
            <a:r>
              <a:rPr lang="tr-TR" dirty="0"/>
              <a:t> </a:t>
            </a:r>
            <a:r>
              <a:rPr dirty="0" err="1"/>
              <a:t>katsayısı</a:t>
            </a:r>
            <a:r>
              <a:rPr dirty="0"/>
              <a:t> </a:t>
            </a:r>
            <a:r>
              <a:rPr dirty="0" err="1"/>
              <a:t>atandı</a:t>
            </a:r>
            <a:r>
              <a:rPr dirty="0"/>
              <a:t> (</a:t>
            </a:r>
            <a:r>
              <a:rPr dirty="0" err="1"/>
              <a:t>Hassasiyet</a:t>
            </a:r>
            <a:r>
              <a:rPr lang="tr-TR" dirty="0"/>
              <a:t> </a:t>
            </a:r>
            <a:r>
              <a:rPr dirty="0" err="1"/>
              <a:t>Raporu'ndan</a:t>
            </a:r>
            <a:r>
              <a:rPr dirty="0"/>
              <a:t> </a:t>
            </a:r>
            <a:r>
              <a:rPr dirty="0" err="1"/>
              <a:t>alınan</a:t>
            </a:r>
            <a:r>
              <a:rPr dirty="0"/>
              <a:t> </a:t>
            </a:r>
            <a:r>
              <a:rPr dirty="0" err="1"/>
              <a:t>değerler</a:t>
            </a:r>
            <a:r>
              <a:rPr dirty="0"/>
              <a:t>)</a:t>
            </a:r>
            <a:r>
              <a:rPr lang="tr-TR" dirty="0"/>
              <a:t> </a:t>
            </a:r>
            <a:endParaRPr dirty="0"/>
          </a:p>
        </p:txBody>
      </p:sp>
      <p:pic>
        <p:nvPicPr>
          <p:cNvPr id="8" name="Resim 799497422">
            <a:extLst>
              <a:ext uri="{FF2B5EF4-FFF2-40B4-BE49-F238E27FC236}">
                <a16:creationId xmlns:a16="http://schemas.microsoft.com/office/drawing/2014/main" id="{12D3544C-1423-44DE-DCAA-6E28FAAF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27207" y="1157070"/>
            <a:ext cx="2226310" cy="4886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358882-537C-ADE5-D457-8E14B1C0E065}"/>
              </a:ext>
            </a:extLst>
          </p:cNvPr>
          <p:cNvSpPr txBox="1"/>
          <p:nvPr/>
        </p:nvSpPr>
        <p:spPr>
          <a:xfrm rot="10800000" flipV="1">
            <a:off x="7580799" y="6024777"/>
            <a:ext cx="33960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tr-TR" sz="1100" i="1" dirty="0">
                <a:solidFill>
                  <a:srgbClr val="44444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X ve Y eksenlerinin aynı açısal alanı taramadığı, dikey yönde aşırı uzamış erken dönem çıktı.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B25505-0C1B-A32E-13D9-1C5E47FEE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460237"/>
              </p:ext>
            </p:extLst>
          </p:nvPr>
        </p:nvGraphicFramePr>
        <p:xfrm>
          <a:off x="334108" y="4299661"/>
          <a:ext cx="6591304" cy="1866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7826">
                  <a:extLst>
                    <a:ext uri="{9D8B030D-6E8A-4147-A177-3AD203B41FA5}">
                      <a16:colId xmlns:a16="http://schemas.microsoft.com/office/drawing/2014/main" val="4056974678"/>
                    </a:ext>
                  </a:extLst>
                </a:gridCol>
                <a:gridCol w="1647826">
                  <a:extLst>
                    <a:ext uri="{9D8B030D-6E8A-4147-A177-3AD203B41FA5}">
                      <a16:colId xmlns:a16="http://schemas.microsoft.com/office/drawing/2014/main" val="859740384"/>
                    </a:ext>
                  </a:extLst>
                </a:gridCol>
                <a:gridCol w="1647826">
                  <a:extLst>
                    <a:ext uri="{9D8B030D-6E8A-4147-A177-3AD203B41FA5}">
                      <a16:colId xmlns:a16="http://schemas.microsoft.com/office/drawing/2014/main" val="4168509624"/>
                    </a:ext>
                  </a:extLst>
                </a:gridCol>
                <a:gridCol w="1647826">
                  <a:extLst>
                    <a:ext uri="{9D8B030D-6E8A-4147-A177-3AD203B41FA5}">
                      <a16:colId xmlns:a16="http://schemas.microsoft.com/office/drawing/2014/main" val="2927633173"/>
                    </a:ext>
                  </a:extLst>
                </a:gridCol>
              </a:tblGrid>
              <a:tr h="36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fx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1592.349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fy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-1635.001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381142524"/>
                  </a:ext>
                </a:extLst>
              </a:tr>
              <a:tr h="36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cx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1145.169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1180.139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874417521"/>
                  </a:ext>
                </a:extLst>
              </a:tr>
              <a:tr h="36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2.2957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-48.8065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86615341"/>
                  </a:ext>
                </a:extLst>
              </a:tr>
              <a:tr h="36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0.0888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0.0117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513939988"/>
                  </a:ext>
                </a:extLst>
              </a:tr>
              <a:tr h="393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RMS (px)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27.2781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00491839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8886001C-70E6-BDE7-0E7F-42E94D536126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7323A-87FE-F9C9-284A-985273F7C128}"/>
              </a:ext>
            </a:extLst>
          </p:cNvPr>
          <p:cNvSpPr txBox="1"/>
          <p:nvPr/>
        </p:nvSpPr>
        <p:spPr>
          <a:xfrm>
            <a:off x="61547" y="6539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 dirty="0"/>
              <a:t>TÜBİTAK UZAY — Star Tracker Optik </a:t>
            </a:r>
            <a:r>
              <a:rPr dirty="0" err="1"/>
              <a:t>Kalibrasyon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163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Sorun 2: Optik Yansıma (Reflection)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Lazer ışığı çevreden yansıyarak kameraya ikinci yoldan ulaşıyor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8/25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01837"/>
            <a:ext cx="4572985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Problem: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Lazer </a:t>
            </a:r>
            <a:r>
              <a:rPr dirty="0" err="1"/>
              <a:t>ışığı</a:t>
            </a:r>
            <a:r>
              <a:rPr dirty="0"/>
              <a:t> metal </a:t>
            </a:r>
            <a:r>
              <a:rPr dirty="0" err="1"/>
              <a:t>yüzeylerden</a:t>
            </a:r>
            <a:r>
              <a:rPr dirty="0"/>
              <a:t>/</a:t>
            </a:r>
            <a:r>
              <a:rPr dirty="0" err="1"/>
              <a:t>duvardan</a:t>
            </a:r>
            <a:r>
              <a:rPr dirty="0"/>
              <a:t> </a:t>
            </a:r>
            <a:r>
              <a:rPr dirty="0" err="1"/>
              <a:t>yansıyarak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kameraya</a:t>
            </a:r>
            <a:r>
              <a:rPr dirty="0"/>
              <a:t> </a:t>
            </a:r>
            <a:r>
              <a:rPr dirty="0" err="1"/>
              <a:t>istenmeyen</a:t>
            </a:r>
            <a:r>
              <a:rPr dirty="0"/>
              <a:t> </a:t>
            </a:r>
            <a:r>
              <a:rPr dirty="0" err="1"/>
              <a:t>ikinci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yoldan</a:t>
            </a:r>
            <a:r>
              <a:rPr dirty="0"/>
              <a:t> </a:t>
            </a:r>
            <a:r>
              <a:rPr dirty="0" err="1"/>
              <a:t>ulaşıyor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Belirti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Noktalar</a:t>
            </a:r>
            <a:r>
              <a:rPr dirty="0"/>
              <a:t> </a:t>
            </a:r>
            <a:r>
              <a:rPr dirty="0" err="1"/>
              <a:t>beklenen</a:t>
            </a:r>
            <a:r>
              <a:rPr dirty="0"/>
              <a:t> </a:t>
            </a:r>
            <a:r>
              <a:rPr dirty="0" err="1"/>
              <a:t>konumlardan</a:t>
            </a:r>
            <a:r>
              <a:rPr dirty="0"/>
              <a:t> </a:t>
            </a:r>
            <a:r>
              <a:rPr dirty="0" err="1"/>
              <a:t>tamamen</a:t>
            </a:r>
            <a:r>
              <a:rPr dirty="0"/>
              <a:t> </a:t>
            </a:r>
            <a:r>
              <a:rPr dirty="0" err="1"/>
              <a:t>kopuyor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Centroid </a:t>
            </a:r>
            <a:r>
              <a:rPr dirty="0" err="1"/>
              <a:t>algoritması</a:t>
            </a:r>
            <a:r>
              <a:rPr dirty="0"/>
              <a:t> </a:t>
            </a:r>
            <a:r>
              <a:rPr dirty="0" err="1"/>
              <a:t>yansımayı</a:t>
            </a:r>
            <a:r>
              <a:rPr dirty="0"/>
              <a:t> </a:t>
            </a:r>
            <a:r>
              <a:rPr dirty="0" err="1"/>
              <a:t>takip</a:t>
            </a:r>
            <a:r>
              <a:rPr dirty="0"/>
              <a:t> </a:t>
            </a:r>
            <a:r>
              <a:rPr dirty="0" err="1"/>
              <a:t>ediyor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RMS = 426.96 </a:t>
            </a:r>
            <a:r>
              <a:rPr dirty="0" err="1"/>
              <a:t>px</a:t>
            </a:r>
            <a:r>
              <a:rPr dirty="0"/>
              <a:t> (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hata</a:t>
            </a:r>
            <a:r>
              <a:rPr dirty="0"/>
              <a:t>!)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Çözüm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Pinhole </a:t>
            </a:r>
            <a:r>
              <a:rPr dirty="0" err="1"/>
              <a:t>çevresine</a:t>
            </a:r>
            <a:r>
              <a:rPr dirty="0"/>
              <a:t> </a:t>
            </a:r>
            <a:r>
              <a:rPr dirty="0" err="1"/>
              <a:t>siyah</a:t>
            </a:r>
            <a:r>
              <a:rPr dirty="0"/>
              <a:t> bant </a:t>
            </a:r>
            <a:r>
              <a:rPr dirty="0" err="1"/>
              <a:t>sarıldı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Lazer-pinhole </a:t>
            </a:r>
            <a:r>
              <a:rPr dirty="0" err="1"/>
              <a:t>arasındaki</a:t>
            </a:r>
            <a:r>
              <a:rPr dirty="0"/>
              <a:t> </a:t>
            </a:r>
            <a:r>
              <a:rPr dirty="0" err="1"/>
              <a:t>boşluk</a:t>
            </a:r>
            <a:r>
              <a:rPr dirty="0"/>
              <a:t> </a:t>
            </a:r>
            <a:r>
              <a:rPr dirty="0" err="1"/>
              <a:t>siyah</a:t>
            </a:r>
            <a:r>
              <a:rPr dirty="0"/>
              <a:t> </a:t>
            </a:r>
            <a:r>
              <a:rPr dirty="0" err="1"/>
              <a:t>kumaşla</a:t>
            </a:r>
            <a:r>
              <a:rPr dirty="0"/>
              <a:t> </a:t>
            </a:r>
            <a:r>
              <a:rPr dirty="0" err="1"/>
              <a:t>kapatıldı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Hasarlı</a:t>
            </a:r>
            <a:r>
              <a:rPr dirty="0"/>
              <a:t> pinhole </a:t>
            </a:r>
            <a:r>
              <a:rPr dirty="0" err="1"/>
              <a:t>kenarı</a:t>
            </a:r>
            <a:r>
              <a:rPr dirty="0"/>
              <a:t> </a:t>
            </a:r>
            <a:r>
              <a:rPr dirty="0" err="1"/>
              <a:t>bantla</a:t>
            </a:r>
            <a:r>
              <a:rPr dirty="0"/>
              <a:t> </a:t>
            </a:r>
            <a:r>
              <a:rPr dirty="0" err="1"/>
              <a:t>yalıtıldı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rPr lang="tr-TR" sz="1200" i="1"/>
              <a:t>Noktaların beklenen yerlerden koparak düzensiz biçimde toplandığı, yansıma etkisinin baskın olduğu ölçüm.</a:t>
            </a:r>
            <a:endParaRPr dirty="0"/>
          </a:p>
        </p:txBody>
      </p:sp>
      <p:pic>
        <p:nvPicPr>
          <p:cNvPr id="11" name="Resim 1392383251">
            <a:extLst>
              <a:ext uri="{FF2B5EF4-FFF2-40B4-BE49-F238E27FC236}">
                <a16:creationId xmlns:a16="http://schemas.microsoft.com/office/drawing/2014/main" id="{0E4FCAD1-CCA9-FD84-44A5-268778FB75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6672" y="1805833"/>
            <a:ext cx="3831353" cy="4457807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E5AC7A-33EE-26B1-B6A9-E35BA4CF1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637955"/>
              </p:ext>
            </p:extLst>
          </p:nvPr>
        </p:nvGraphicFramePr>
        <p:xfrm>
          <a:off x="413238" y="5092152"/>
          <a:ext cx="6005148" cy="12748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1287">
                  <a:extLst>
                    <a:ext uri="{9D8B030D-6E8A-4147-A177-3AD203B41FA5}">
                      <a16:colId xmlns:a16="http://schemas.microsoft.com/office/drawing/2014/main" val="3370753365"/>
                    </a:ext>
                  </a:extLst>
                </a:gridCol>
                <a:gridCol w="1501287">
                  <a:extLst>
                    <a:ext uri="{9D8B030D-6E8A-4147-A177-3AD203B41FA5}">
                      <a16:colId xmlns:a16="http://schemas.microsoft.com/office/drawing/2014/main" val="3669077582"/>
                    </a:ext>
                  </a:extLst>
                </a:gridCol>
                <a:gridCol w="1501287">
                  <a:extLst>
                    <a:ext uri="{9D8B030D-6E8A-4147-A177-3AD203B41FA5}">
                      <a16:colId xmlns:a16="http://schemas.microsoft.com/office/drawing/2014/main" val="1742872521"/>
                    </a:ext>
                  </a:extLst>
                </a:gridCol>
                <a:gridCol w="1501287">
                  <a:extLst>
                    <a:ext uri="{9D8B030D-6E8A-4147-A177-3AD203B41FA5}">
                      <a16:colId xmlns:a16="http://schemas.microsoft.com/office/drawing/2014/main" val="498793650"/>
                    </a:ext>
                  </a:extLst>
                </a:gridCol>
              </a:tblGrid>
              <a:tr h="251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 dirty="0" err="1">
                          <a:effectLst/>
                        </a:rPr>
                        <a:t>fx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373.709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fy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-71.644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228839174"/>
                  </a:ext>
                </a:extLst>
              </a:tr>
              <a:tr h="251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cx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883.728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814.710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036238123"/>
                  </a:ext>
                </a:extLst>
              </a:tr>
              <a:tr h="251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1.8257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-0.7065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70787978"/>
                  </a:ext>
                </a:extLst>
              </a:tr>
              <a:tr h="251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0.4756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-0.0887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515167884"/>
                  </a:ext>
                </a:extLst>
              </a:tr>
              <a:tr h="2683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RMS (px)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426.9604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8839469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Sorun 3: Perspektif Etkisi (Trapezleşme)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Kamera, lazer eksenine tam dik bakamıyor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9/25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Problem: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3D </a:t>
            </a:r>
            <a:r>
              <a:rPr dirty="0" err="1"/>
              <a:t>baskı</a:t>
            </a:r>
            <a:r>
              <a:rPr dirty="0"/>
              <a:t> </a:t>
            </a:r>
            <a:r>
              <a:rPr dirty="0" err="1"/>
              <a:t>taşıyıcı</a:t>
            </a:r>
            <a:r>
              <a:rPr dirty="0"/>
              <a:t> + </a:t>
            </a:r>
            <a:r>
              <a:rPr dirty="0" err="1"/>
              <a:t>kapton</a:t>
            </a:r>
            <a:r>
              <a:rPr dirty="0"/>
              <a:t> bant </a:t>
            </a:r>
            <a:r>
              <a:rPr dirty="0" err="1"/>
              <a:t>montajı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→ Kamera mikron </a:t>
            </a:r>
            <a:r>
              <a:rPr dirty="0" err="1"/>
              <a:t>düzeyinde</a:t>
            </a:r>
            <a:r>
              <a:rPr dirty="0"/>
              <a:t> </a:t>
            </a:r>
            <a:r>
              <a:rPr dirty="0" err="1"/>
              <a:t>eğik</a:t>
            </a:r>
            <a:r>
              <a:rPr dirty="0"/>
              <a:t> </a:t>
            </a:r>
            <a:r>
              <a:rPr dirty="0" err="1"/>
              <a:t>duruyor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Belirti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Üst</a:t>
            </a:r>
            <a:r>
              <a:rPr dirty="0"/>
              <a:t> </a:t>
            </a:r>
            <a:r>
              <a:rPr dirty="0" err="1"/>
              <a:t>satır</a:t>
            </a:r>
            <a:r>
              <a:rPr dirty="0"/>
              <a:t>: 915 </a:t>
            </a:r>
            <a:r>
              <a:rPr dirty="0" err="1"/>
              <a:t>piksel</a:t>
            </a:r>
            <a:r>
              <a:rPr dirty="0"/>
              <a:t> </a:t>
            </a:r>
            <a:r>
              <a:rPr dirty="0" err="1"/>
              <a:t>genişliğinde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Alt </a:t>
            </a:r>
            <a:r>
              <a:rPr dirty="0" err="1"/>
              <a:t>satır</a:t>
            </a:r>
            <a:r>
              <a:rPr dirty="0"/>
              <a:t>:  881 </a:t>
            </a:r>
            <a:r>
              <a:rPr dirty="0" err="1"/>
              <a:t>piksel</a:t>
            </a:r>
            <a:r>
              <a:rPr dirty="0"/>
              <a:t> </a:t>
            </a:r>
            <a:r>
              <a:rPr dirty="0" err="1"/>
              <a:t>genişliğinde</a:t>
            </a:r>
            <a:r>
              <a:rPr dirty="0"/>
              <a:t> → Yamuk (</a:t>
            </a:r>
            <a:r>
              <a:rPr dirty="0" err="1"/>
              <a:t>trapez</a:t>
            </a:r>
            <a:r>
              <a:rPr dirty="0"/>
              <a:t>) </a:t>
            </a:r>
            <a:r>
              <a:rPr dirty="0" err="1"/>
              <a:t>şekli</a:t>
            </a:r>
            <a:r>
              <a:rPr dirty="0"/>
              <a:t>!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Etki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Algoritma</a:t>
            </a:r>
            <a:r>
              <a:rPr dirty="0"/>
              <a:t> </a:t>
            </a:r>
            <a:r>
              <a:rPr dirty="0" err="1"/>
              <a:t>yamukluğu</a:t>
            </a:r>
            <a:r>
              <a:rPr dirty="0"/>
              <a:t> </a:t>
            </a:r>
            <a:r>
              <a:rPr dirty="0" err="1"/>
              <a:t>distorsiyon</a:t>
            </a:r>
            <a:r>
              <a:rPr dirty="0"/>
              <a:t> </a:t>
            </a:r>
            <a:r>
              <a:rPr dirty="0" err="1"/>
              <a:t>sanıyor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→ </a:t>
            </a:r>
            <a:r>
              <a:rPr dirty="0" err="1"/>
              <a:t>fx</a:t>
            </a:r>
            <a:r>
              <a:rPr dirty="0"/>
              <a:t> </a:t>
            </a:r>
            <a:r>
              <a:rPr dirty="0" err="1"/>
              <a:t>değerini</a:t>
            </a:r>
            <a:r>
              <a:rPr dirty="0"/>
              <a:t> 2252'den 1626'ya </a:t>
            </a:r>
            <a:r>
              <a:rPr dirty="0" err="1"/>
              <a:t>çekiyor</a:t>
            </a:r>
            <a:r>
              <a:rPr dirty="0"/>
              <a:t> (overfitting)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→ k1 </a:t>
            </a:r>
            <a:r>
              <a:rPr dirty="0" err="1"/>
              <a:t>değerini</a:t>
            </a:r>
            <a:r>
              <a:rPr dirty="0"/>
              <a:t> </a:t>
            </a:r>
            <a:r>
              <a:rPr dirty="0" err="1"/>
              <a:t>gerçek</a:t>
            </a:r>
            <a:r>
              <a:rPr dirty="0"/>
              <a:t> −0.03 </a:t>
            </a:r>
            <a:r>
              <a:rPr dirty="0" err="1"/>
              <a:t>yerine</a:t>
            </a:r>
            <a:r>
              <a:rPr dirty="0"/>
              <a:t> −1.2 </a:t>
            </a:r>
            <a:r>
              <a:rPr dirty="0" err="1"/>
              <a:t>çıkarıyor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Çözüm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Extrinsic (R, T) </a:t>
            </a:r>
            <a:r>
              <a:rPr dirty="0" err="1"/>
              <a:t>matrislerinin</a:t>
            </a:r>
            <a:r>
              <a:rPr dirty="0"/>
              <a:t> </a:t>
            </a:r>
            <a:r>
              <a:rPr dirty="0" err="1"/>
              <a:t>modele</a:t>
            </a:r>
            <a:r>
              <a:rPr dirty="0"/>
              <a:t> </a:t>
            </a:r>
            <a:r>
              <a:rPr dirty="0" err="1"/>
              <a:t>eklenmesi</a:t>
            </a:r>
            <a:r>
              <a:rPr dirty="0"/>
              <a:t> </a:t>
            </a:r>
            <a:r>
              <a:rPr dirty="0" err="1"/>
              <a:t>gerekli</a:t>
            </a:r>
            <a:r>
              <a:rPr lang="tr-TR" dirty="0"/>
              <a:t>, kameranın sisteme </a:t>
            </a:r>
            <a:r>
              <a:rPr lang="tr-TR" dirty="0" err="1"/>
              <a:t>paralelleştirilmesi</a:t>
            </a:r>
            <a:r>
              <a:rPr lang="tr-TR" dirty="0"/>
              <a:t> 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rPr dirty="0"/>
              <a:t>[</a:t>
            </a:r>
            <a:r>
              <a:rPr dirty="0" err="1"/>
              <a:t>Görsel</a:t>
            </a:r>
            <a:r>
              <a:rPr dirty="0"/>
              <a:t>: </a:t>
            </a:r>
            <a:r>
              <a:rPr dirty="0" err="1"/>
              <a:t>Ölçüm</a:t>
            </a:r>
            <a:r>
              <a:rPr dirty="0"/>
              <a:t> </a:t>
            </a:r>
            <a:r>
              <a:rPr lang="tr-TR" dirty="0"/>
              <a:t>5(Sol)/4(Sağ)</a:t>
            </a:r>
            <a:r>
              <a:rPr dirty="0"/>
              <a:t> — </a:t>
            </a:r>
            <a:r>
              <a:rPr dirty="0" err="1"/>
              <a:t>Trapez</a:t>
            </a:r>
            <a:r>
              <a:rPr dirty="0"/>
              <a:t> </a:t>
            </a:r>
            <a:r>
              <a:rPr dirty="0" err="1"/>
              <a:t>biçimli</a:t>
            </a:r>
            <a:r>
              <a:rPr dirty="0"/>
              <a:t> </a:t>
            </a:r>
            <a:r>
              <a:rPr dirty="0" err="1"/>
              <a:t>ızgara</a:t>
            </a:r>
            <a:r>
              <a:rPr dirty="0"/>
              <a:t>]</a:t>
            </a:r>
          </a:p>
        </p:txBody>
      </p:sp>
      <p:pic>
        <p:nvPicPr>
          <p:cNvPr id="11" name="Resim 1236971280">
            <a:extLst>
              <a:ext uri="{FF2B5EF4-FFF2-40B4-BE49-F238E27FC236}">
                <a16:creationId xmlns:a16="http://schemas.microsoft.com/office/drawing/2014/main" id="{8B388697-2751-2876-DDA7-3DA6043698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11528" y="1728857"/>
            <a:ext cx="2775672" cy="2341562"/>
          </a:xfrm>
          <a:prstGeom prst="rect">
            <a:avLst/>
          </a:prstGeom>
        </p:spPr>
      </p:pic>
      <p:pic>
        <p:nvPicPr>
          <p:cNvPr id="12" name="Resim 1872228064">
            <a:extLst>
              <a:ext uri="{FF2B5EF4-FFF2-40B4-BE49-F238E27FC236}">
                <a16:creationId xmlns:a16="http://schemas.microsoft.com/office/drawing/2014/main" id="{3F230B58-3A26-76E0-4A75-76C202ACC4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5847" y="1768987"/>
            <a:ext cx="2766646" cy="2341562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76F89A3-7812-E39B-72B9-85B59B6F8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33384"/>
              </p:ext>
            </p:extLst>
          </p:nvPr>
        </p:nvGraphicFramePr>
        <p:xfrm>
          <a:off x="6095848" y="4455624"/>
          <a:ext cx="5638648" cy="1158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9662">
                  <a:extLst>
                    <a:ext uri="{9D8B030D-6E8A-4147-A177-3AD203B41FA5}">
                      <a16:colId xmlns:a16="http://schemas.microsoft.com/office/drawing/2014/main" val="2196923062"/>
                    </a:ext>
                  </a:extLst>
                </a:gridCol>
                <a:gridCol w="1409662">
                  <a:extLst>
                    <a:ext uri="{9D8B030D-6E8A-4147-A177-3AD203B41FA5}">
                      <a16:colId xmlns:a16="http://schemas.microsoft.com/office/drawing/2014/main" val="3066111373"/>
                    </a:ext>
                  </a:extLst>
                </a:gridCol>
                <a:gridCol w="1409662">
                  <a:extLst>
                    <a:ext uri="{9D8B030D-6E8A-4147-A177-3AD203B41FA5}">
                      <a16:colId xmlns:a16="http://schemas.microsoft.com/office/drawing/2014/main" val="2435663270"/>
                    </a:ext>
                  </a:extLst>
                </a:gridCol>
                <a:gridCol w="1409662">
                  <a:extLst>
                    <a:ext uri="{9D8B030D-6E8A-4147-A177-3AD203B41FA5}">
                      <a16:colId xmlns:a16="http://schemas.microsoft.com/office/drawing/2014/main" val="3985518442"/>
                    </a:ext>
                  </a:extLst>
                </a:gridCol>
              </a:tblGrid>
              <a:tr h="1479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fx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1573.936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fy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-1593.595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011413609"/>
                  </a:ext>
                </a:extLst>
              </a:tr>
              <a:tr h="1479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cx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926.303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cy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1034.351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1036888170"/>
                  </a:ext>
                </a:extLst>
              </a:tr>
              <a:tr h="1479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-1.0235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k2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1.4780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3738975241"/>
                  </a:ext>
                </a:extLst>
              </a:tr>
              <a:tr h="1479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0.0859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p2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0.0076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490614950"/>
                  </a:ext>
                </a:extLst>
              </a:tr>
              <a:tr h="157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RMS (px)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000">
                          <a:effectLst/>
                        </a:rPr>
                        <a:t>10.6413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38100" marB="38100" anchor="ctr"/>
                </a:tc>
                <a:extLst>
                  <a:ext uri="{0D108BD9-81ED-4DB2-BD59-A6C34878D82A}">
                    <a16:rowId xmlns:a16="http://schemas.microsoft.com/office/drawing/2014/main" val="281340302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51EC9F8-DD14-9F01-A737-548DEB7D3D59}"/>
              </a:ext>
            </a:extLst>
          </p:cNvPr>
          <p:cNvSpPr txBox="1"/>
          <p:nvPr/>
        </p:nvSpPr>
        <p:spPr>
          <a:xfrm>
            <a:off x="6171972" y="5707416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rPr dirty="0"/>
              <a:t>[</a:t>
            </a:r>
            <a:r>
              <a:rPr lang="tr-TR" dirty="0"/>
              <a:t>Tablo</a:t>
            </a:r>
            <a:r>
              <a:rPr dirty="0"/>
              <a:t>: </a:t>
            </a:r>
            <a:r>
              <a:rPr dirty="0" err="1"/>
              <a:t>Ölçüm</a:t>
            </a:r>
            <a:r>
              <a:rPr lang="tr-TR" dirty="0"/>
              <a:t>5</a:t>
            </a:r>
            <a:r>
              <a:rPr dirty="0"/>
              <a:t> — </a:t>
            </a:r>
            <a:r>
              <a:rPr dirty="0" err="1"/>
              <a:t>Trapez</a:t>
            </a:r>
            <a:r>
              <a:rPr dirty="0"/>
              <a:t> </a:t>
            </a:r>
            <a:r>
              <a:rPr dirty="0" err="1"/>
              <a:t>biçimli</a:t>
            </a:r>
            <a:r>
              <a:rPr dirty="0"/>
              <a:t> </a:t>
            </a:r>
            <a:r>
              <a:rPr dirty="0" err="1"/>
              <a:t>ızgara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Sorun 4: Mekanik Backlash → Zigzag Deseni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Boustrophedon tarama deseninde yön değişimi kayma yaratıyor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10/25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Problem: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Boustrophedon (S-tarama): Her satırda yön değişiyor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Dişli boşluğu (backlash) → Yön değişiminde kayma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Belirti: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Kenarlarda testere dişi (zigzag) deseni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Bir satır doğru, bir satır kaymış, sırayla tekrar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Doğrulama: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Tarama yönü sabitlenince zigzag tamamen kayboldu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→ Sorun kesinlikle backlash (Aday 2), geniş açı değil (Aday 1)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Çözüm: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Tek yönlü (daktilo) tarama: Her satır soldan sağa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Satır sonunda ölçümsüz geri dönüş → Backlash yutulur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rPr dirty="0"/>
              <a:t>[</a:t>
            </a:r>
            <a:r>
              <a:rPr dirty="0" err="1"/>
              <a:t>Görsel</a:t>
            </a:r>
            <a:r>
              <a:rPr dirty="0"/>
              <a:t>: Zigzag </a:t>
            </a:r>
            <a:r>
              <a:rPr dirty="0" err="1"/>
              <a:t>deseni</a:t>
            </a:r>
            <a:r>
              <a:rPr dirty="0"/>
              <a:t> </a:t>
            </a:r>
            <a:r>
              <a:rPr lang="tr-TR" dirty="0"/>
              <a:t>(Sol)</a:t>
            </a:r>
            <a:r>
              <a:rPr dirty="0"/>
              <a:t>→ </a:t>
            </a:r>
            <a:r>
              <a:rPr dirty="0" err="1"/>
              <a:t>Düzeltme</a:t>
            </a:r>
            <a:r>
              <a:rPr dirty="0"/>
              <a:t> </a:t>
            </a:r>
            <a:r>
              <a:rPr dirty="0" err="1"/>
              <a:t>sonrası</a:t>
            </a:r>
            <a:r>
              <a:rPr lang="tr-TR" dirty="0"/>
              <a:t>(Sağ)</a:t>
            </a:r>
            <a:r>
              <a:rPr dirty="0"/>
              <a:t>]</a:t>
            </a:r>
          </a:p>
        </p:txBody>
      </p:sp>
      <p:pic>
        <p:nvPicPr>
          <p:cNvPr id="11" name="Resim 8118002">
            <a:extLst>
              <a:ext uri="{FF2B5EF4-FFF2-40B4-BE49-F238E27FC236}">
                <a16:creationId xmlns:a16="http://schemas.microsoft.com/office/drawing/2014/main" id="{80F5FF6E-5B77-C6B6-52F9-6027F3DF5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04692" y="1737360"/>
            <a:ext cx="3083169" cy="2537191"/>
          </a:xfrm>
          <a:prstGeom prst="rect">
            <a:avLst/>
          </a:prstGeom>
        </p:spPr>
      </p:pic>
      <p:pic>
        <p:nvPicPr>
          <p:cNvPr id="12" name="Resim 198166437">
            <a:extLst>
              <a:ext uri="{FF2B5EF4-FFF2-40B4-BE49-F238E27FC236}">
                <a16:creationId xmlns:a16="http://schemas.microsoft.com/office/drawing/2014/main" id="{395233EF-66B5-07FB-3A82-791FB6EB33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92307" y="1741374"/>
            <a:ext cx="3083169" cy="2529162"/>
          </a:xfrm>
          <a:prstGeom prst="rect">
            <a:avLst/>
          </a:prstGeom>
        </p:spPr>
      </p:pic>
      <p:pic>
        <p:nvPicPr>
          <p:cNvPr id="14" name="Resim 150618177">
            <a:extLst>
              <a:ext uri="{FF2B5EF4-FFF2-40B4-BE49-F238E27FC236}">
                <a16:creationId xmlns:a16="http://schemas.microsoft.com/office/drawing/2014/main" id="{FBB5E4CE-0328-6642-50D3-5E1FC1C562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4578" y="4410495"/>
            <a:ext cx="2236544" cy="1862884"/>
          </a:xfrm>
          <a:prstGeom prst="rect">
            <a:avLst/>
          </a:prstGeom>
        </p:spPr>
      </p:pic>
      <p:pic>
        <p:nvPicPr>
          <p:cNvPr id="15" name="Resim 1741564664">
            <a:extLst>
              <a:ext uri="{FF2B5EF4-FFF2-40B4-BE49-F238E27FC236}">
                <a16:creationId xmlns:a16="http://schemas.microsoft.com/office/drawing/2014/main" id="{7529F5C5-2FFA-EC9E-0860-67023F0142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463087" y="4453416"/>
            <a:ext cx="1966913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Kararlı Çözüm: Ölçüm 7 ve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fx ≈ 1800, k1 ≈ −1.20, RMS ≈ 4.9 px — Tekrarlanabilir sonuç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12/25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3123" y="1969079"/>
            <a:ext cx="27959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/>
              <a:t>[</a:t>
            </a:r>
            <a:r>
              <a:rPr dirty="0" err="1"/>
              <a:t>Görseller</a:t>
            </a:r>
            <a:r>
              <a:rPr dirty="0"/>
              <a:t>: </a:t>
            </a:r>
            <a:r>
              <a:rPr dirty="0" err="1"/>
              <a:t>Ölçüm</a:t>
            </a:r>
            <a:r>
              <a:rPr dirty="0"/>
              <a:t> 7</a:t>
            </a:r>
            <a:r>
              <a:rPr lang="tr-TR" dirty="0"/>
              <a:t>(Sol)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8</a:t>
            </a:r>
            <a:r>
              <a:rPr lang="tr-TR" dirty="0"/>
              <a:t>(Sağ)</a:t>
            </a:r>
            <a:r>
              <a:rPr dirty="0"/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097280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Son </a:t>
            </a:r>
            <a:r>
              <a:rPr dirty="0" err="1"/>
              <a:t>iki</a:t>
            </a:r>
            <a:r>
              <a:rPr dirty="0"/>
              <a:t> </a:t>
            </a:r>
            <a:r>
              <a:rPr dirty="0" err="1"/>
              <a:t>ölçüm</a:t>
            </a:r>
            <a:r>
              <a:rPr dirty="0"/>
              <a:t> </a:t>
            </a:r>
            <a:r>
              <a:rPr dirty="0" err="1"/>
              <a:t>birbirine</a:t>
            </a:r>
            <a:r>
              <a:rPr dirty="0"/>
              <a:t>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yakın</a:t>
            </a:r>
            <a:r>
              <a:rPr dirty="0"/>
              <a:t> </a:t>
            </a:r>
            <a:r>
              <a:rPr dirty="0" err="1"/>
              <a:t>parametrelerle</a:t>
            </a:r>
            <a:r>
              <a:rPr dirty="0"/>
              <a:t> </a:t>
            </a:r>
            <a:r>
              <a:rPr dirty="0" err="1"/>
              <a:t>yakınsamıştır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k1 </a:t>
            </a:r>
            <a:r>
              <a:rPr dirty="0" err="1"/>
              <a:t>tutarlı</a:t>
            </a:r>
            <a:r>
              <a:rPr dirty="0"/>
              <a:t> </a:t>
            </a:r>
            <a:r>
              <a:rPr dirty="0" err="1"/>
              <a:t>biçimde</a:t>
            </a:r>
            <a:r>
              <a:rPr dirty="0"/>
              <a:t> </a:t>
            </a:r>
            <a:r>
              <a:rPr dirty="0" err="1"/>
              <a:t>negatif</a:t>
            </a:r>
            <a:r>
              <a:rPr dirty="0"/>
              <a:t> → Barrel (</a:t>
            </a:r>
            <a:r>
              <a:rPr dirty="0" err="1"/>
              <a:t>fıçı</a:t>
            </a:r>
            <a:r>
              <a:rPr dirty="0"/>
              <a:t>) </a:t>
            </a:r>
            <a:r>
              <a:rPr dirty="0" err="1"/>
              <a:t>distorsiyon</a:t>
            </a:r>
            <a:r>
              <a:rPr dirty="0"/>
              <a:t> </a:t>
            </a:r>
            <a:r>
              <a:rPr dirty="0" err="1"/>
              <a:t>baskın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p1, p2 </a:t>
            </a:r>
            <a:r>
              <a:rPr dirty="0" err="1"/>
              <a:t>çok</a:t>
            </a:r>
            <a:r>
              <a:rPr dirty="0"/>
              <a:t> </a:t>
            </a:r>
            <a:r>
              <a:rPr dirty="0" err="1"/>
              <a:t>küçük</a:t>
            </a:r>
            <a:r>
              <a:rPr dirty="0"/>
              <a:t> → Premium </a:t>
            </a:r>
            <a:r>
              <a:rPr dirty="0" err="1"/>
              <a:t>lensin</a:t>
            </a:r>
            <a:r>
              <a:rPr dirty="0"/>
              <a:t> </a:t>
            </a:r>
            <a:r>
              <a:rPr dirty="0" err="1"/>
              <a:t>üstün</a:t>
            </a:r>
            <a:r>
              <a:rPr dirty="0"/>
              <a:t> </a:t>
            </a:r>
            <a:r>
              <a:rPr dirty="0" err="1"/>
              <a:t>hizalama</a:t>
            </a:r>
            <a:r>
              <a:rPr dirty="0"/>
              <a:t> </a:t>
            </a:r>
            <a:r>
              <a:rPr dirty="0" err="1"/>
              <a:t>kalitesi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RMS ≈ 5 </a:t>
            </a:r>
            <a:r>
              <a:rPr dirty="0" err="1"/>
              <a:t>piksel</a:t>
            </a:r>
            <a:r>
              <a:rPr dirty="0"/>
              <a:t> → Deneme-</a:t>
            </a:r>
            <a:r>
              <a:rPr dirty="0" err="1"/>
              <a:t>yanılma</a:t>
            </a:r>
            <a:r>
              <a:rPr dirty="0"/>
              <a:t> </a:t>
            </a:r>
            <a:r>
              <a:rPr dirty="0" err="1"/>
              <a:t>aşaması</a:t>
            </a:r>
            <a:r>
              <a:rPr dirty="0"/>
              <a:t> </a:t>
            </a:r>
            <a:r>
              <a:rPr dirty="0" err="1"/>
              <a:t>sona</a:t>
            </a:r>
            <a:r>
              <a:rPr dirty="0"/>
              <a:t> </a:t>
            </a:r>
            <a:r>
              <a:rPr dirty="0" err="1"/>
              <a:t>ermiştir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Ancak</a:t>
            </a:r>
            <a:r>
              <a:rPr dirty="0"/>
              <a:t>: </a:t>
            </a:r>
            <a:r>
              <a:rPr dirty="0" err="1"/>
              <a:t>fx</a:t>
            </a:r>
            <a:r>
              <a:rPr dirty="0"/>
              <a:t> ≈ 1800 ↔ </a:t>
            </a:r>
            <a:r>
              <a:rPr dirty="0" err="1"/>
              <a:t>Teorik</a:t>
            </a:r>
            <a:r>
              <a:rPr dirty="0"/>
              <a:t> </a:t>
            </a:r>
            <a:r>
              <a:rPr dirty="0" err="1"/>
              <a:t>fx</a:t>
            </a:r>
            <a:r>
              <a:rPr dirty="0"/>
              <a:t> ≈ 2252  →  %18 </a:t>
            </a:r>
            <a:r>
              <a:rPr dirty="0" err="1"/>
              <a:t>sapma</a:t>
            </a:r>
            <a:r>
              <a:rPr dirty="0"/>
              <a:t>!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  </a:t>
            </a:r>
            <a:r>
              <a:rPr lang="tr-TR" dirty="0"/>
              <a:t>      </a:t>
            </a:r>
            <a:r>
              <a:rPr dirty="0"/>
              <a:t> k1 ≈ −1.20 ↔ </a:t>
            </a:r>
            <a:r>
              <a:rPr dirty="0" err="1"/>
              <a:t>Beklenen</a:t>
            </a:r>
            <a:r>
              <a:rPr dirty="0"/>
              <a:t> k1 ≈ −0.03 </a:t>
            </a:r>
            <a:r>
              <a:rPr lang="tr-TR" dirty="0"/>
              <a:t>– Yüksek Fark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→ Bu </a:t>
            </a:r>
            <a:r>
              <a:rPr dirty="0" err="1"/>
              <a:t>sapmalar</a:t>
            </a:r>
            <a:r>
              <a:rPr dirty="0"/>
              <a:t> </a:t>
            </a:r>
            <a:r>
              <a:rPr dirty="0" err="1"/>
              <a:t>lensten</a:t>
            </a:r>
            <a:r>
              <a:rPr dirty="0"/>
              <a:t> mi, </a:t>
            </a:r>
            <a:r>
              <a:rPr dirty="0" err="1"/>
              <a:t>yoksa</a:t>
            </a:r>
            <a:r>
              <a:rPr dirty="0"/>
              <a:t> </a:t>
            </a:r>
            <a:r>
              <a:rPr dirty="0" err="1"/>
              <a:t>sistemin</a:t>
            </a:r>
            <a:r>
              <a:rPr dirty="0"/>
              <a:t> </a:t>
            </a:r>
            <a:r>
              <a:rPr dirty="0" err="1"/>
              <a:t>geometrisinden</a:t>
            </a:r>
            <a:r>
              <a:rPr dirty="0"/>
              <a:t> mi?</a:t>
            </a:r>
          </a:p>
        </p:txBody>
      </p:sp>
      <p:pic>
        <p:nvPicPr>
          <p:cNvPr id="11" name="Resim 198166437">
            <a:extLst>
              <a:ext uri="{FF2B5EF4-FFF2-40B4-BE49-F238E27FC236}">
                <a16:creationId xmlns:a16="http://schemas.microsoft.com/office/drawing/2014/main" id="{CE81EB22-5450-C077-7D78-2C1698E0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5847" y="2416374"/>
            <a:ext cx="2836314" cy="2326664"/>
          </a:xfrm>
          <a:prstGeom prst="rect">
            <a:avLst/>
          </a:prstGeom>
        </p:spPr>
      </p:pic>
      <p:pic>
        <p:nvPicPr>
          <p:cNvPr id="12" name="Resim 1649284614">
            <a:extLst>
              <a:ext uri="{FF2B5EF4-FFF2-40B4-BE49-F238E27FC236}">
                <a16:creationId xmlns:a16="http://schemas.microsoft.com/office/drawing/2014/main" id="{D875AFEB-3A50-6456-1313-58A271571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50886" y="2416374"/>
            <a:ext cx="2836314" cy="23266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Ölçüm Sonuçları: Kronolojik Gelişim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8 ölçüm boyunca RMS: 245.68 → 4.94 piksel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11/25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Ölçüm</a:t>
                      </a:r>
                    </a:p>
                  </a:txBody>
                  <a:tcPr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fx</a:t>
                      </a:r>
                    </a:p>
                  </a:txBody>
                  <a:tcPr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k1</a:t>
                      </a:r>
                    </a:p>
                  </a:txBody>
                  <a:tcPr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RMS (px)</a:t>
                      </a:r>
                    </a:p>
                  </a:txBody>
                  <a:tcPr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Sorun</a:t>
                      </a:r>
                    </a:p>
                  </a:txBody>
                  <a:tcPr>
                    <a:solidFill>
                      <a:srgbClr val="003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Çözüm</a:t>
                      </a:r>
                    </a:p>
                  </a:txBody>
                  <a:tcPr>
                    <a:solidFill>
                      <a:srgbClr val="00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2821.7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−26.73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245.68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Eksen eşitsizliği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DEG_PER_MM ayrımı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1592.3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Dikdörtgen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Katsayı düzeltmesi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373.7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426.96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Yansıma baskın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Siyah bant/kumaş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−1.11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Perspektif eğimi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Mekanik sabitleme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1573.9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−1.02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Trapezleşme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Kamera açısı düzeltme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1799.4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−1.25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Kenar zigzag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Tek yönlü tarama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1800.5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−1.20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4.85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Kararlı I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1799.8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−1.21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4.94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Kararlı II (Referans)</a:t>
                      </a:r>
                    </a:p>
                  </a:txBody>
                  <a:tcPr>
                    <a:solidFill>
                      <a:srgbClr val="E8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tr-TR" noProof="0" dirty="0"/>
              <a:t>İleri Analiz: Küresel Yörünge Yanılgısı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rPr lang="tr-TR" noProof="0" dirty="0" err="1"/>
              <a:t>Pinhole</a:t>
            </a:r>
            <a:r>
              <a:rPr lang="tr-TR" noProof="0" dirty="0"/>
              <a:t> düz duvarda değil, küre yüzeyinde hareket ediyor!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 lang="tr-TR" noProof="0" dirty="0"/>
              <a:t>TÜBİTAK UZAY — Star </a:t>
            </a:r>
            <a:r>
              <a:rPr lang="tr-TR" noProof="0" dirty="0" err="1"/>
              <a:t>Tracker</a:t>
            </a:r>
            <a:r>
              <a:rPr lang="tr-TR" noProof="0" dirty="0"/>
              <a:t>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rPr lang="tr-TR" noProof="0" dirty="0"/>
              <a:t>13/25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00061"/>
            <a:ext cx="3733214" cy="503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u="sng" noProof="0" dirty="0"/>
              <a:t>Keşif: </a:t>
            </a:r>
            <a:r>
              <a:rPr lang="tr-TR" sz="1400" noProof="0" dirty="0"/>
              <a:t>Kolimatör olmadan </a:t>
            </a:r>
            <a:r>
              <a:rPr lang="tr-TR" sz="1400" noProof="0" dirty="0" err="1"/>
              <a:t>pinhole</a:t>
            </a:r>
            <a:r>
              <a:rPr lang="tr-TR" sz="1400" noProof="0" dirty="0"/>
              <a:t> noktasal bir kaynak gibi davranır.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noProof="0" dirty="0" err="1"/>
              <a:t>Gimbal</a:t>
            </a:r>
            <a:r>
              <a:rPr lang="tr-TR" sz="1400" noProof="0" dirty="0"/>
              <a:t> döndükçe </a:t>
            </a:r>
            <a:r>
              <a:rPr lang="tr-TR" sz="1400" noProof="0" dirty="0" err="1"/>
              <a:t>pinhole</a:t>
            </a:r>
            <a:r>
              <a:rPr lang="tr-TR" sz="1400" noProof="0" dirty="0"/>
              <a:t>, dönüş merkezine bağlı küre yüzeyi çizer.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lang="tr-TR" sz="1400" u="sng" noProof="0"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u="sng" noProof="0" dirty="0"/>
              <a:t>Fiziksel Sonuç: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noProof="0" dirty="0"/>
              <a:t>  • Merkezdeyken: </a:t>
            </a:r>
            <a:r>
              <a:rPr lang="tr-TR" sz="1400" noProof="0" dirty="0" err="1"/>
              <a:t>Pinhole</a:t>
            </a:r>
            <a:r>
              <a:rPr lang="tr-TR" sz="1400" noProof="0" dirty="0"/>
              <a:t> kameraya EN YAKIN → Pikseller geniş aralıklı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noProof="0" dirty="0"/>
              <a:t>  • Köşelere gidince: </a:t>
            </a:r>
            <a:r>
              <a:rPr lang="tr-TR" sz="1400" noProof="0" dirty="0" err="1"/>
              <a:t>Pinhole</a:t>
            </a:r>
            <a:r>
              <a:rPr lang="tr-TR" sz="1400" noProof="0" dirty="0"/>
              <a:t> kameradan UZAKLAŞIR (Z artar) → Pikseller sıkışır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lang="tr-TR" sz="1400" u="sng" noProof="0"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u="sng" noProof="0" dirty="0"/>
              <a:t>Algoritmanın Yanılgısı</a:t>
            </a:r>
            <a:r>
              <a:rPr lang="tr-TR" sz="1400" noProof="0" dirty="0"/>
              <a:t>: Kod düz duvar varsayıyor → Köşelerdeki sıkışmayı 'lens büküyor' sanıyor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noProof="0" dirty="0"/>
              <a:t>  → k1 = −1.20 çıkarıyor (gerçek distorsiyon sadece −0.03!)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noProof="0" dirty="0"/>
              <a:t>  → </a:t>
            </a:r>
            <a:r>
              <a:rPr lang="tr-TR" sz="1400" noProof="0" dirty="0" err="1"/>
              <a:t>fx</a:t>
            </a:r>
            <a:r>
              <a:rPr lang="tr-TR" sz="1400" noProof="0" dirty="0"/>
              <a:t> = 1800 buluyor (gerçek </a:t>
            </a:r>
            <a:r>
              <a:rPr lang="tr-TR" sz="1400" noProof="0" dirty="0" err="1"/>
              <a:t>fx</a:t>
            </a:r>
            <a:r>
              <a:rPr lang="tr-TR" sz="1400" noProof="0" dirty="0"/>
              <a:t> = 2252!)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lang="tr-TR" sz="1400" noProof="0"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tr-TR" sz="1400" noProof="0" dirty="0"/>
              <a:t>Çözüm: 3D Küresel Kinematik model — X, Y, Z koordinatları trigonometri ile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111121-AC40-5A8D-2C23-EA7B3D39C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361" y="1932273"/>
            <a:ext cx="7605346" cy="32594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İleri Analiz: Perspektif Bozulması (Extrinsic)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Kameranın 3D eğikliği, yamukluğun kök nedenidir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14/25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Keşif</a:t>
            </a:r>
            <a:r>
              <a:rPr dirty="0"/>
              <a:t>: Excel </a:t>
            </a:r>
            <a:r>
              <a:rPr dirty="0" err="1"/>
              <a:t>verisinde</a:t>
            </a:r>
            <a:r>
              <a:rPr dirty="0"/>
              <a:t> </a:t>
            </a:r>
            <a:r>
              <a:rPr dirty="0" err="1"/>
              <a:t>üst</a:t>
            </a:r>
            <a:r>
              <a:rPr dirty="0"/>
              <a:t>-alt </a:t>
            </a:r>
            <a:r>
              <a:rPr dirty="0" err="1"/>
              <a:t>satır</a:t>
            </a:r>
            <a:r>
              <a:rPr dirty="0"/>
              <a:t> </a:t>
            </a:r>
            <a:r>
              <a:rPr dirty="0" err="1"/>
              <a:t>genişlik</a:t>
            </a:r>
            <a:r>
              <a:rPr dirty="0"/>
              <a:t> </a:t>
            </a:r>
            <a:r>
              <a:rPr dirty="0" err="1"/>
              <a:t>farkı</a:t>
            </a:r>
            <a:r>
              <a:rPr dirty="0"/>
              <a:t>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edildi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Üst</a:t>
            </a:r>
            <a:r>
              <a:rPr dirty="0"/>
              <a:t> </a:t>
            </a:r>
            <a:r>
              <a:rPr dirty="0" err="1"/>
              <a:t>satır</a:t>
            </a:r>
            <a:r>
              <a:rPr dirty="0"/>
              <a:t> (P01→P15):  1491 − 575.7 = 915.3 </a:t>
            </a:r>
            <a:r>
              <a:rPr dirty="0" err="1"/>
              <a:t>piksel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Alt </a:t>
            </a:r>
            <a:r>
              <a:rPr dirty="0" err="1"/>
              <a:t>satır</a:t>
            </a:r>
            <a:r>
              <a:rPr dirty="0"/>
              <a:t> (P211→P225): 1461.6 − 579.7 = 881.8 </a:t>
            </a:r>
            <a:r>
              <a:rPr dirty="0" err="1"/>
              <a:t>piksel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→ 34 </a:t>
            </a:r>
            <a:r>
              <a:rPr dirty="0" err="1"/>
              <a:t>piksellik</a:t>
            </a:r>
            <a:r>
              <a:rPr dirty="0"/>
              <a:t> fark = Kamera </a:t>
            </a:r>
            <a:r>
              <a:rPr dirty="0" err="1"/>
              <a:t>eğik</a:t>
            </a:r>
            <a:r>
              <a:rPr dirty="0"/>
              <a:t> </a:t>
            </a:r>
            <a:r>
              <a:rPr dirty="0" err="1"/>
              <a:t>duruyor</a:t>
            </a:r>
            <a:r>
              <a:rPr dirty="0"/>
              <a:t>!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Saf </a:t>
            </a:r>
            <a:r>
              <a:rPr dirty="0" err="1"/>
              <a:t>distorsiyon</a:t>
            </a:r>
            <a:r>
              <a:rPr dirty="0"/>
              <a:t> SİMETRİK </a:t>
            </a:r>
            <a:r>
              <a:rPr dirty="0" err="1"/>
              <a:t>olmalıdır</a:t>
            </a:r>
            <a:r>
              <a:rPr dirty="0"/>
              <a:t> (alt = </a:t>
            </a:r>
            <a:r>
              <a:rPr dirty="0" err="1"/>
              <a:t>üst</a:t>
            </a:r>
            <a:r>
              <a:rPr dirty="0"/>
              <a:t> </a:t>
            </a:r>
            <a:r>
              <a:rPr dirty="0" err="1"/>
              <a:t>genişlik</a:t>
            </a:r>
            <a:r>
              <a:rPr dirty="0"/>
              <a:t>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Asimetrik</a:t>
            </a:r>
            <a:r>
              <a:rPr dirty="0"/>
              <a:t> </a:t>
            </a:r>
            <a:r>
              <a:rPr dirty="0" err="1"/>
              <a:t>daralma</a:t>
            </a:r>
            <a:r>
              <a:rPr dirty="0"/>
              <a:t> → Extrinsic (</a:t>
            </a:r>
            <a:r>
              <a:rPr dirty="0" err="1"/>
              <a:t>kamera</a:t>
            </a:r>
            <a:r>
              <a:rPr dirty="0"/>
              <a:t> </a:t>
            </a:r>
            <a:r>
              <a:rPr dirty="0" err="1"/>
              <a:t>duruş</a:t>
            </a:r>
            <a:r>
              <a:rPr dirty="0"/>
              <a:t> </a:t>
            </a:r>
            <a:r>
              <a:rPr dirty="0" err="1"/>
              <a:t>açısı</a:t>
            </a:r>
            <a:r>
              <a:rPr dirty="0"/>
              <a:t>) </a:t>
            </a:r>
            <a:r>
              <a:rPr dirty="0" err="1"/>
              <a:t>hatası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Algoritmanın</a:t>
            </a:r>
            <a:r>
              <a:rPr dirty="0"/>
              <a:t> </a:t>
            </a:r>
            <a:r>
              <a:rPr dirty="0" err="1"/>
              <a:t>Çaresizliği</a:t>
            </a:r>
            <a:r>
              <a:rPr dirty="0"/>
              <a:t> (Overfitting):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Extrinsic </a:t>
            </a:r>
            <a:r>
              <a:rPr dirty="0" err="1"/>
              <a:t>hesaplama</a:t>
            </a:r>
            <a:r>
              <a:rPr dirty="0"/>
              <a:t> </a:t>
            </a:r>
            <a:r>
              <a:rPr dirty="0" err="1"/>
              <a:t>yetkisi</a:t>
            </a:r>
            <a:r>
              <a:rPr dirty="0"/>
              <a:t> yok → </a:t>
            </a:r>
            <a:r>
              <a:rPr dirty="0" err="1"/>
              <a:t>Yamukluğu</a:t>
            </a:r>
            <a:r>
              <a:rPr dirty="0"/>
              <a:t> </a:t>
            </a:r>
            <a:r>
              <a:rPr dirty="0" err="1"/>
              <a:t>kapatmak</a:t>
            </a:r>
            <a:r>
              <a:rPr dirty="0"/>
              <a:t> </a:t>
            </a:r>
            <a:r>
              <a:rPr dirty="0" err="1"/>
              <a:t>için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fx'i</a:t>
            </a:r>
            <a:r>
              <a:rPr dirty="0"/>
              <a:t> </a:t>
            </a:r>
            <a:r>
              <a:rPr dirty="0" err="1"/>
              <a:t>bozuyor</a:t>
            </a:r>
            <a:r>
              <a:rPr dirty="0"/>
              <a:t> (2252 → 1626) </a:t>
            </a:r>
            <a:r>
              <a:rPr dirty="0" err="1"/>
              <a:t>ve</a:t>
            </a:r>
            <a:r>
              <a:rPr dirty="0"/>
              <a:t> k1'i </a:t>
            </a:r>
            <a:r>
              <a:rPr dirty="0" err="1"/>
              <a:t>şişiriyor</a:t>
            </a:r>
            <a:r>
              <a:rPr dirty="0"/>
              <a:t> (−0.03 → −0.459)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Çözüm</a:t>
            </a:r>
            <a:r>
              <a:rPr dirty="0"/>
              <a:t>: cv2.calibrateCamera </a:t>
            </a:r>
            <a:r>
              <a:rPr dirty="0" err="1"/>
              <a:t>ile</a:t>
            </a:r>
            <a:r>
              <a:rPr dirty="0"/>
              <a:t> R, T </a:t>
            </a:r>
            <a:r>
              <a:rPr dirty="0" err="1"/>
              <a:t>matrisleri</a:t>
            </a:r>
            <a:r>
              <a:rPr dirty="0"/>
              <a:t>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hesaplanacak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CC1BEB4-924D-B708-A050-73A3E6FD8D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4065160"/>
                  </p:ext>
                </p:extLst>
              </p:nvPr>
            </p:nvGraphicFramePr>
            <p:xfrm>
              <a:off x="5805268" y="1197864"/>
              <a:ext cx="5838092" cy="272259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79479">
                      <a:extLst>
                        <a:ext uri="{9D8B030D-6E8A-4147-A177-3AD203B41FA5}">
                          <a16:colId xmlns:a16="http://schemas.microsoft.com/office/drawing/2014/main" val="3576890693"/>
                        </a:ext>
                      </a:extLst>
                    </a:gridCol>
                    <a:gridCol w="1979479">
                      <a:extLst>
                        <a:ext uri="{9D8B030D-6E8A-4147-A177-3AD203B41FA5}">
                          <a16:colId xmlns:a16="http://schemas.microsoft.com/office/drawing/2014/main" val="451742350"/>
                        </a:ext>
                      </a:extLst>
                    </a:gridCol>
                    <a:gridCol w="1879134">
                      <a:extLst>
                        <a:ext uri="{9D8B030D-6E8A-4147-A177-3AD203B41FA5}">
                          <a16:colId xmlns:a16="http://schemas.microsoft.com/office/drawing/2014/main" val="959941486"/>
                        </a:ext>
                      </a:extLst>
                    </a:gridCol>
                  </a:tblGrid>
                  <a:tr h="26313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GB" sz="1400" b="0">
                              <a:effectLst/>
                            </a:rPr>
                            <a:t>Sembol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GB" sz="1400" b="0">
                              <a:effectLst/>
                            </a:rPr>
                            <a:t>Anlam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GB" sz="1400" b="0">
                              <a:effectLst/>
                            </a:rPr>
                            <a:t>Boyut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670966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GB" sz="14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İçsel matris (fx, fy, cx, cy)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1855378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GB" sz="14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Dönme matrisi (kamera eğikliği)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8651099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GB" sz="14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Öteleme vektörü (kamera konumu)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3286637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sz="14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Dışsal (Extrinsic) matris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3464008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GB" sz="14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Pitch, Yaw, Roll açıları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dirty="0" err="1">
                              <a:effectLst/>
                            </a:rPr>
                            <a:t>skaler</a:t>
                          </a:r>
                          <a:endParaRPr lang="en-GB" sz="14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492139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ACC1BEB4-924D-B708-A050-73A3E6FD8D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4065160"/>
                  </p:ext>
                </p:extLst>
              </p:nvPr>
            </p:nvGraphicFramePr>
            <p:xfrm>
              <a:off x="5805268" y="1197864"/>
              <a:ext cx="5838092" cy="272259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79479">
                      <a:extLst>
                        <a:ext uri="{9D8B030D-6E8A-4147-A177-3AD203B41FA5}">
                          <a16:colId xmlns:a16="http://schemas.microsoft.com/office/drawing/2014/main" val="3576890693"/>
                        </a:ext>
                      </a:extLst>
                    </a:gridCol>
                    <a:gridCol w="1979479">
                      <a:extLst>
                        <a:ext uri="{9D8B030D-6E8A-4147-A177-3AD203B41FA5}">
                          <a16:colId xmlns:a16="http://schemas.microsoft.com/office/drawing/2014/main" val="451742350"/>
                        </a:ext>
                      </a:extLst>
                    </a:gridCol>
                    <a:gridCol w="1879134">
                      <a:extLst>
                        <a:ext uri="{9D8B030D-6E8A-4147-A177-3AD203B41FA5}">
                          <a16:colId xmlns:a16="http://schemas.microsoft.com/office/drawing/2014/main" val="95994148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GB" sz="1400" b="0">
                              <a:effectLst/>
                            </a:rPr>
                            <a:t>Sembol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GB" sz="1400" b="0">
                              <a:effectLst/>
                            </a:rPr>
                            <a:t>Anlam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GB" sz="1400" b="0">
                              <a:effectLst/>
                            </a:rPr>
                            <a:t>Boyut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64670966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8" t="-67105" r="-195692" b="-4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İçsel matris (fx, fy, cx, cy)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7185537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8" t="-149412" r="-195692" b="-28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Dönme matrisi (kamera eğikliği)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5865109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8" t="-249412" r="-195692" b="-18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Öteleme vektörü (kamera konumu)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3286637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8" t="-390789" r="-195692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Dışsal (Extrinsic) matris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3×4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3464008"/>
                      </a:ext>
                    </a:extLst>
                  </a:tr>
                  <a:tr h="4604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8" t="-490789" r="-19569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>
                              <a:effectLst/>
                            </a:rPr>
                            <a:t>Pitch, Yaw, Roll açıları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dirty="0" err="1">
                              <a:effectLst/>
                            </a:rPr>
                            <a:t>skaler</a:t>
                          </a:r>
                          <a:endParaRPr lang="en-GB" sz="14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4921395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BFD6F0C-C78E-3601-AAA4-D1910A54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378" y="3984465"/>
            <a:ext cx="4179634" cy="23248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Algoritmik Çözüm: 2D → 3D Model Yükseltmesi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Mevcut donanımla bile saf lens distorsiyonunu ayrıştırmak mümkün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15/25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Mevcut</a:t>
            </a:r>
            <a:r>
              <a:rPr dirty="0"/>
              <a:t> Model (2D — </a:t>
            </a:r>
            <a:r>
              <a:rPr dirty="0" err="1"/>
              <a:t>Sorunlu</a:t>
            </a:r>
            <a:r>
              <a:rPr dirty="0"/>
              <a:t>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np.tan</a:t>
            </a:r>
            <a:r>
              <a:rPr dirty="0"/>
              <a:t>()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düzlemsel</a:t>
            </a:r>
            <a:r>
              <a:rPr dirty="0"/>
              <a:t> </a:t>
            </a:r>
            <a:r>
              <a:rPr dirty="0" err="1"/>
              <a:t>izdüşüm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Kamera </a:t>
            </a:r>
            <a:r>
              <a:rPr dirty="0" err="1"/>
              <a:t>eğikliği</a:t>
            </a:r>
            <a:r>
              <a:rPr dirty="0"/>
              <a:t> </a:t>
            </a:r>
            <a:r>
              <a:rPr dirty="0" err="1"/>
              <a:t>hesaplanmıyor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least_squares</a:t>
            </a:r>
            <a:r>
              <a:rPr dirty="0"/>
              <a:t> → Overfitting </a:t>
            </a:r>
            <a:r>
              <a:rPr dirty="0" err="1"/>
              <a:t>riski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Yeni Model (3D — </a:t>
            </a:r>
            <a:r>
              <a:rPr dirty="0" err="1"/>
              <a:t>Hedef</a:t>
            </a:r>
            <a:r>
              <a:rPr dirty="0"/>
              <a:t>):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Küresel</a:t>
            </a:r>
            <a:r>
              <a:rPr dirty="0"/>
              <a:t> </a:t>
            </a:r>
            <a:r>
              <a:rPr dirty="0" err="1"/>
              <a:t>kinematik</a:t>
            </a:r>
            <a:r>
              <a:rPr dirty="0"/>
              <a:t>: X, Y, Z </a:t>
            </a:r>
            <a:r>
              <a:rPr dirty="0" err="1"/>
              <a:t>trigonometri</a:t>
            </a:r>
            <a:r>
              <a:rPr dirty="0"/>
              <a:t> </a:t>
            </a:r>
            <a:r>
              <a:rPr dirty="0" err="1"/>
              <a:t>ile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cv2.calibrateCamera: Extrinsic (R, T) </a:t>
            </a:r>
            <a:r>
              <a:rPr dirty="0" err="1"/>
              <a:t>otomatik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Intrinsic Guess: </a:t>
            </a:r>
            <a:r>
              <a:rPr dirty="0" err="1"/>
              <a:t>fx</a:t>
            </a:r>
            <a:r>
              <a:rPr dirty="0"/>
              <a:t>₀ = 2252 (12.39mm / 5.5µm)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5669280" cy="4114800"/>
          </a:xfrm>
          <a:prstGeom prst="rect">
            <a:avLst/>
          </a:prstGeom>
          <a:solidFill>
            <a:srgbClr val="F5F8FC"/>
          </a:solidFill>
          <a:ln>
            <a:solidFill>
              <a:srgbClr val="007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r>
              <a:t>Beklenen İyileşmeler:</a:t>
            </a:r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r>
              <a:t>✓ k1:  −1.20  →  −0.03 (Basler datasheet uyumu)</a:t>
            </a:r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r>
              <a:t>✓ fx:  1800   →  2252  (12.39mm lens ile eşleşme)</a:t>
            </a:r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r>
              <a:t>✓ RMS: 4.9 px →  &lt; 1 px (sub-pixel hassasiyet)</a:t>
            </a:r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r>
              <a:t>Gerekli Fiziksel Ölçüler:</a:t>
            </a:r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r>
              <a:t>  • Gimbal Yarıçapı (R): Pinhole→Pivot mesafesi</a:t>
            </a:r>
          </a:p>
          <a:p>
            <a:pPr>
              <a:spcAft>
                <a:spcPts val="600"/>
              </a:spcAft>
              <a:defRPr sz="1400">
                <a:solidFill>
                  <a:srgbClr val="003D6B"/>
                </a:solidFill>
                <a:latin typeface="Calibri"/>
              </a:defRPr>
            </a:pPr>
            <a:r>
              <a:t>  • Kamera Mesafesi (D): Lens ucu→Pivot mesafesi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744EEB-2DFA-BDE3-216C-7DDE126FF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138" y="4250823"/>
            <a:ext cx="3958864" cy="15081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Yeni Lazer: Helyum-Neon (HeNe) Geçişi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REO 30989 Silindirik HeNe Lazer — Laboratuvar Referans Kalitesi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16/25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Eski </a:t>
            </a:r>
            <a:r>
              <a:rPr dirty="0" err="1"/>
              <a:t>Sistem</a:t>
            </a:r>
            <a:r>
              <a:rPr dirty="0"/>
              <a:t>: </a:t>
            </a:r>
            <a:r>
              <a:rPr dirty="0" err="1"/>
              <a:t>Diyot</a:t>
            </a:r>
            <a:r>
              <a:rPr dirty="0"/>
              <a:t> Lazer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Eliptik</a:t>
            </a:r>
            <a:r>
              <a:rPr dirty="0"/>
              <a:t> </a:t>
            </a:r>
            <a:r>
              <a:rPr dirty="0" err="1"/>
              <a:t>ışın</a:t>
            </a:r>
            <a:r>
              <a:rPr dirty="0"/>
              <a:t> </a:t>
            </a:r>
            <a:r>
              <a:rPr dirty="0" err="1"/>
              <a:t>profili</a:t>
            </a:r>
            <a:r>
              <a:rPr dirty="0"/>
              <a:t>, speckle </a:t>
            </a:r>
            <a:r>
              <a:rPr dirty="0" err="1"/>
              <a:t>gürültüsü</a:t>
            </a:r>
            <a:r>
              <a:rPr dirty="0"/>
              <a:t> </a:t>
            </a:r>
            <a:r>
              <a:rPr dirty="0" err="1"/>
              <a:t>yüksek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Sensörde</a:t>
            </a:r>
            <a:r>
              <a:rPr dirty="0"/>
              <a:t> </a:t>
            </a:r>
            <a:r>
              <a:rPr dirty="0" err="1"/>
              <a:t>asimetrik</a:t>
            </a:r>
            <a:r>
              <a:rPr dirty="0"/>
              <a:t> </a:t>
            </a:r>
            <a:r>
              <a:rPr dirty="0" err="1"/>
              <a:t>leke</a:t>
            </a:r>
            <a:r>
              <a:rPr dirty="0"/>
              <a:t> → Centroid </a:t>
            </a:r>
            <a:r>
              <a:rPr dirty="0" err="1"/>
              <a:t>hatası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Yeni </a:t>
            </a:r>
            <a:r>
              <a:rPr dirty="0" err="1"/>
              <a:t>Sistem</a:t>
            </a:r>
            <a:r>
              <a:rPr dirty="0"/>
              <a:t>: REO 30989 HeNe Lazer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Dalga</a:t>
            </a:r>
            <a:r>
              <a:rPr dirty="0"/>
              <a:t> </a:t>
            </a:r>
            <a:r>
              <a:rPr dirty="0" err="1"/>
              <a:t>boyu</a:t>
            </a:r>
            <a:r>
              <a:rPr dirty="0"/>
              <a:t>: 633 nm (</a:t>
            </a:r>
            <a:r>
              <a:rPr dirty="0" err="1"/>
              <a:t>kırmızı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Çıkış</a:t>
            </a:r>
            <a:r>
              <a:rPr dirty="0"/>
              <a:t> </a:t>
            </a:r>
            <a:r>
              <a:rPr dirty="0" err="1"/>
              <a:t>gücü</a:t>
            </a:r>
            <a:r>
              <a:rPr dirty="0"/>
              <a:t>: 2.0 – 5.0 </a:t>
            </a:r>
            <a:r>
              <a:rPr dirty="0" err="1"/>
              <a:t>mW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Işın </a:t>
            </a:r>
            <a:r>
              <a:rPr dirty="0" err="1"/>
              <a:t>çapı</a:t>
            </a:r>
            <a:r>
              <a:rPr dirty="0"/>
              <a:t>: 0.81 mm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TEM00 </a:t>
            </a:r>
            <a:r>
              <a:rPr dirty="0" err="1"/>
              <a:t>modu</a:t>
            </a:r>
            <a:r>
              <a:rPr dirty="0"/>
              <a:t> &gt; %99 → </a:t>
            </a:r>
            <a:r>
              <a:rPr dirty="0" err="1"/>
              <a:t>Kusursuz</a:t>
            </a:r>
            <a:r>
              <a:rPr dirty="0"/>
              <a:t> Gauss </a:t>
            </a:r>
            <a:r>
              <a:rPr dirty="0" err="1"/>
              <a:t>profili</a:t>
            </a:r>
            <a:r>
              <a:rPr dirty="0"/>
              <a:t>!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• Beam Drift (20 dk </a:t>
            </a:r>
            <a:r>
              <a:rPr dirty="0" err="1"/>
              <a:t>ısınma</a:t>
            </a:r>
            <a:r>
              <a:rPr dirty="0"/>
              <a:t> </a:t>
            </a:r>
            <a:r>
              <a:rPr dirty="0" err="1"/>
              <a:t>sonrası</a:t>
            </a:r>
            <a:r>
              <a:rPr dirty="0"/>
              <a:t>): &lt; 0.2 </a:t>
            </a:r>
            <a:r>
              <a:rPr dirty="0" err="1"/>
              <a:t>mrad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Avantaj</a:t>
            </a:r>
            <a:r>
              <a:rPr dirty="0"/>
              <a:t>: </a:t>
            </a:r>
            <a:r>
              <a:rPr dirty="0" err="1"/>
              <a:t>Sensörde</a:t>
            </a:r>
            <a:r>
              <a:rPr dirty="0"/>
              <a:t> </a:t>
            </a:r>
            <a:r>
              <a:rPr dirty="0" err="1"/>
              <a:t>mükemmel</a:t>
            </a:r>
            <a:r>
              <a:rPr dirty="0"/>
              <a:t> </a:t>
            </a:r>
            <a:r>
              <a:rPr dirty="0" err="1"/>
              <a:t>yuvarlak</a:t>
            </a:r>
            <a:r>
              <a:rPr dirty="0"/>
              <a:t> </a:t>
            </a:r>
            <a:r>
              <a:rPr dirty="0" err="1"/>
              <a:t>nokta</a:t>
            </a:r>
            <a:r>
              <a:rPr dirty="0"/>
              <a:t> → Sub-pixel centroid </a:t>
            </a:r>
            <a:r>
              <a:rPr dirty="0" err="1"/>
              <a:t>hassasiyeti</a:t>
            </a:r>
            <a:r>
              <a:rPr dirty="0"/>
              <a:t> ↑↑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38" y="1290711"/>
            <a:ext cx="3464169" cy="2414260"/>
          </a:xfrm>
          <a:prstGeom prst="rect">
            <a:avLst/>
          </a:prstGeom>
          <a:solidFill>
            <a:srgbClr val="FDF0E8"/>
          </a:solidFill>
          <a:ln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1428" y="1426464"/>
            <a:ext cx="3260188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HeNe </a:t>
            </a:r>
            <a:r>
              <a:rPr dirty="0" err="1"/>
              <a:t>Çalışma</a:t>
            </a:r>
            <a:r>
              <a:rPr dirty="0"/>
              <a:t> </a:t>
            </a:r>
            <a:r>
              <a:rPr dirty="0" err="1"/>
              <a:t>Prensibi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1. 10 kV </a:t>
            </a:r>
            <a:r>
              <a:rPr dirty="0" err="1"/>
              <a:t>şok</a:t>
            </a:r>
            <a:r>
              <a:rPr dirty="0"/>
              <a:t> → </a:t>
            </a:r>
            <a:r>
              <a:rPr dirty="0" err="1"/>
              <a:t>Helyum</a:t>
            </a:r>
            <a:r>
              <a:rPr dirty="0"/>
              <a:t> </a:t>
            </a:r>
            <a:r>
              <a:rPr dirty="0" err="1"/>
              <a:t>atomları</a:t>
            </a:r>
            <a:r>
              <a:rPr dirty="0"/>
              <a:t> </a:t>
            </a:r>
            <a:r>
              <a:rPr dirty="0" err="1"/>
              <a:t>uyarılır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2. He </a:t>
            </a:r>
            <a:r>
              <a:rPr dirty="0" err="1"/>
              <a:t>atomları</a:t>
            </a:r>
            <a:r>
              <a:rPr dirty="0"/>
              <a:t> </a:t>
            </a:r>
            <a:r>
              <a:rPr dirty="0" err="1"/>
              <a:t>Neon'a</a:t>
            </a:r>
            <a:r>
              <a:rPr dirty="0"/>
              <a:t> </a:t>
            </a:r>
            <a:r>
              <a:rPr dirty="0" err="1"/>
              <a:t>çarpar</a:t>
            </a:r>
            <a:r>
              <a:rPr dirty="0"/>
              <a:t> (</a:t>
            </a:r>
            <a:r>
              <a:rPr dirty="0" err="1"/>
              <a:t>enerji</a:t>
            </a:r>
            <a:r>
              <a:rPr dirty="0"/>
              <a:t> </a:t>
            </a:r>
            <a:r>
              <a:rPr dirty="0" err="1"/>
              <a:t>transferi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3. Neon </a:t>
            </a:r>
            <a:r>
              <a:rPr dirty="0" err="1"/>
              <a:t>foton</a:t>
            </a:r>
            <a:r>
              <a:rPr dirty="0"/>
              <a:t> (</a:t>
            </a:r>
            <a:r>
              <a:rPr dirty="0" err="1"/>
              <a:t>ışık</a:t>
            </a:r>
            <a:r>
              <a:rPr dirty="0"/>
              <a:t>) </a:t>
            </a:r>
            <a:r>
              <a:rPr dirty="0" err="1"/>
              <a:t>yayar</a:t>
            </a:r>
            <a:r>
              <a:rPr dirty="0"/>
              <a:t> (633 nm)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4. İki </a:t>
            </a:r>
            <a:r>
              <a:rPr dirty="0" err="1"/>
              <a:t>ayna</a:t>
            </a:r>
            <a:r>
              <a:rPr dirty="0"/>
              <a:t> </a:t>
            </a:r>
            <a:r>
              <a:rPr dirty="0" err="1"/>
              <a:t>arasında</a:t>
            </a:r>
            <a:r>
              <a:rPr dirty="0"/>
              <a:t> </a:t>
            </a:r>
            <a:r>
              <a:rPr dirty="0" err="1"/>
              <a:t>fotonlar</a:t>
            </a:r>
            <a:r>
              <a:rPr dirty="0"/>
              <a:t> </a:t>
            </a:r>
            <a:r>
              <a:rPr dirty="0" err="1"/>
              <a:t>çoğalır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   (Stimulated Emission — LASER)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rPr dirty="0"/>
              <a:t>5. </a:t>
            </a: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aynadan</a:t>
            </a:r>
            <a:r>
              <a:rPr dirty="0"/>
              <a:t> %1 </a:t>
            </a:r>
            <a:r>
              <a:rPr dirty="0" err="1"/>
              <a:t>sızma</a:t>
            </a:r>
            <a:r>
              <a:rPr dirty="0"/>
              <a:t> → </a:t>
            </a:r>
            <a:r>
              <a:rPr dirty="0" err="1"/>
              <a:t>lazer</a:t>
            </a:r>
            <a:r>
              <a:rPr dirty="0"/>
              <a:t> </a:t>
            </a:r>
            <a:r>
              <a:rPr dirty="0" err="1"/>
              <a:t>ışını</a:t>
            </a:r>
            <a:r>
              <a:rPr dirty="0"/>
              <a:t>!</a:t>
            </a:r>
          </a:p>
        </p:txBody>
      </p:sp>
      <p:pic>
        <p:nvPicPr>
          <p:cNvPr id="7170" name="Picture 2" descr="633nm HeNe Laser Modules 5mW 1800V 5.25mA Cylinder (44.5mm Dia)">
            <a:extLst>
              <a:ext uri="{FF2B5EF4-FFF2-40B4-BE49-F238E27FC236}">
                <a16:creationId xmlns:a16="http://schemas.microsoft.com/office/drawing/2014/main" id="{B422DABC-C88C-4C5D-FC45-97C3A3E9B5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55" b="13586"/>
          <a:stretch>
            <a:fillRect/>
          </a:stretch>
        </p:blipFill>
        <p:spPr bwMode="auto">
          <a:xfrm>
            <a:off x="7051428" y="3856554"/>
            <a:ext cx="3108962" cy="206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DB7ED1-4ECF-3D09-3F14-9A869E3A5F44}"/>
              </a:ext>
            </a:extLst>
          </p:cNvPr>
          <p:cNvSpPr txBox="1"/>
          <p:nvPr/>
        </p:nvSpPr>
        <p:spPr>
          <a:xfrm>
            <a:off x="7822956" y="5874794"/>
            <a:ext cx="2094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en-GB" sz="1200" dirty="0"/>
              <a:t>REO 30989 HeNe Lazer</a:t>
            </a:r>
            <a:r>
              <a:rPr lang="tr-TR" sz="1200" dirty="0"/>
              <a:t> </a:t>
            </a:r>
            <a:r>
              <a:rPr lang="tr-TR" sz="1200" dirty="0">
                <a:hlinkClick r:id="rId3"/>
              </a:rPr>
              <a:t>30989_RevA.pdf</a:t>
            </a:r>
            <a:r>
              <a:rPr lang="tr-TR" sz="1200" dirty="0"/>
              <a:t> </a:t>
            </a:r>
            <a:endParaRPr lang="en-GB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HeNe Lazer ile Güncel Durum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D0FF"/>
                </a:solidFill>
                <a:latin typeface="Calibri"/>
              </a:defRPr>
            </a:pPr>
            <a:r>
              <a:t>Yeni lazerle elde edilen ilk gözlemler ve devam eden çalışmalar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17/25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HeNe Lazer </a:t>
            </a:r>
            <a:r>
              <a:rPr dirty="0" err="1"/>
              <a:t>Sisteme</a:t>
            </a:r>
            <a:r>
              <a:rPr dirty="0"/>
              <a:t> </a:t>
            </a:r>
            <a:r>
              <a:rPr dirty="0" err="1"/>
              <a:t>Entegre</a:t>
            </a:r>
            <a:r>
              <a:rPr dirty="0"/>
              <a:t> </a:t>
            </a:r>
            <a:r>
              <a:rPr dirty="0" err="1"/>
              <a:t>Edildi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Eski </a:t>
            </a:r>
            <a:r>
              <a:rPr dirty="0" err="1"/>
              <a:t>diyot</a:t>
            </a:r>
            <a:r>
              <a:rPr dirty="0"/>
              <a:t> </a:t>
            </a:r>
            <a:r>
              <a:rPr dirty="0" err="1"/>
              <a:t>lazer</a:t>
            </a:r>
            <a:r>
              <a:rPr dirty="0"/>
              <a:t> </a:t>
            </a:r>
            <a:r>
              <a:rPr dirty="0" err="1"/>
              <a:t>çıkarılıp</a:t>
            </a:r>
            <a:r>
              <a:rPr dirty="0"/>
              <a:t> REO 30989 HeNe </a:t>
            </a:r>
            <a:r>
              <a:rPr dirty="0" err="1"/>
              <a:t>takıldı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TEM00 Gauss </a:t>
            </a:r>
            <a:r>
              <a:rPr dirty="0" err="1"/>
              <a:t>profili</a:t>
            </a:r>
            <a:r>
              <a:rPr dirty="0"/>
              <a:t> </a:t>
            </a:r>
            <a:r>
              <a:rPr dirty="0" err="1"/>
              <a:t>sayesinde</a:t>
            </a:r>
            <a:r>
              <a:rPr dirty="0"/>
              <a:t> </a:t>
            </a:r>
            <a:r>
              <a:rPr dirty="0" err="1"/>
              <a:t>sensördeki</a:t>
            </a:r>
            <a:r>
              <a:rPr dirty="0"/>
              <a:t> </a:t>
            </a:r>
            <a:r>
              <a:rPr dirty="0" err="1"/>
              <a:t>leke</a:t>
            </a:r>
            <a:r>
              <a:rPr dirty="0"/>
              <a:t> </a:t>
            </a:r>
            <a:r>
              <a:rPr dirty="0" err="1"/>
              <a:t>mükemmel</a:t>
            </a:r>
            <a:r>
              <a:rPr dirty="0"/>
              <a:t> </a:t>
            </a:r>
            <a:r>
              <a:rPr dirty="0" err="1"/>
              <a:t>yuvarlak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Centroid </a:t>
            </a:r>
            <a:r>
              <a:rPr dirty="0" err="1"/>
              <a:t>tespiti</a:t>
            </a:r>
            <a:r>
              <a:rPr lang="tr-TR" dirty="0" err="1"/>
              <a:t>nin</a:t>
            </a:r>
            <a:r>
              <a:rPr lang="tr-TR" dirty="0"/>
              <a:t> ileriki </a:t>
            </a:r>
            <a:r>
              <a:rPr lang="tr-TR" dirty="0" err="1"/>
              <a:t>aşamalrda</a:t>
            </a:r>
            <a:r>
              <a:rPr lang="tr-TR" dirty="0"/>
              <a:t> daha </a:t>
            </a:r>
            <a:r>
              <a:rPr lang="tr-TR" dirty="0" err="1"/>
              <a:t>karralı</a:t>
            </a:r>
            <a:r>
              <a:rPr lang="tr-TR" dirty="0"/>
              <a:t> olması bekleniyor.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lang="tr-TR" dirty="0"/>
          </a:p>
          <a:p>
            <a:pPr>
              <a:lnSpc>
                <a:spcPct val="150000"/>
              </a:lnSpc>
            </a:pPr>
            <a:r>
              <a:rPr lang="en-GB" sz="1400" dirty="0"/>
              <a:t>Fiber </a:t>
            </a:r>
            <a:r>
              <a:rPr lang="en-GB" sz="1400" dirty="0" err="1"/>
              <a:t>Kolimatör</a:t>
            </a:r>
            <a:r>
              <a:rPr lang="en-GB" sz="1400" dirty="0"/>
              <a:t> </a:t>
            </a:r>
            <a:r>
              <a:rPr lang="en-GB" sz="1400" dirty="0" err="1"/>
              <a:t>Entegrasyonu</a:t>
            </a:r>
            <a:r>
              <a:rPr lang="en-GB" sz="1400" dirty="0"/>
              <a:t> (Thorlabs F280SMA-B)</a:t>
            </a:r>
            <a:r>
              <a:rPr lang="tr-TR" sz="1400" dirty="0"/>
              <a:t>:</a:t>
            </a:r>
            <a:endParaRPr lang="en-GB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Fiber </a:t>
            </a:r>
            <a:r>
              <a:rPr lang="en-GB" sz="1400" dirty="0" err="1"/>
              <a:t>kablodan</a:t>
            </a:r>
            <a:r>
              <a:rPr lang="en-GB" sz="1400" dirty="0"/>
              <a:t> </a:t>
            </a:r>
            <a:r>
              <a:rPr lang="en-GB" sz="1400" dirty="0" err="1"/>
              <a:t>çıkarak</a:t>
            </a:r>
            <a:r>
              <a:rPr lang="en-GB" sz="1400" dirty="0"/>
              <a:t> </a:t>
            </a:r>
            <a:r>
              <a:rPr lang="en-GB" sz="1400" dirty="0" err="1"/>
              <a:t>dağılan</a:t>
            </a:r>
            <a:r>
              <a:rPr lang="en-GB" sz="1400" dirty="0"/>
              <a:t> (diverge </a:t>
            </a:r>
            <a:r>
              <a:rPr lang="en-GB" sz="1400" dirty="0" err="1"/>
              <a:t>olan</a:t>
            </a:r>
            <a:r>
              <a:rPr lang="en-GB" sz="1400" dirty="0"/>
              <a:t>) </a:t>
            </a:r>
            <a:endParaRPr lang="tr-TR" sz="1400" dirty="0"/>
          </a:p>
          <a:p>
            <a:pPr>
              <a:lnSpc>
                <a:spcPct val="150000"/>
              </a:lnSpc>
            </a:pPr>
            <a:r>
              <a:rPr lang="en-GB" sz="1400" dirty="0" err="1"/>
              <a:t>lazer</a:t>
            </a:r>
            <a:r>
              <a:rPr lang="en-GB" sz="1400" dirty="0"/>
              <a:t> </a:t>
            </a:r>
            <a:r>
              <a:rPr lang="en-GB" sz="1400" dirty="0" err="1"/>
              <a:t>ışığını</a:t>
            </a:r>
            <a:r>
              <a:rPr lang="en-GB" sz="1400" dirty="0"/>
              <a:t> </a:t>
            </a:r>
            <a:r>
              <a:rPr lang="en-GB" sz="1400" dirty="0" err="1"/>
              <a:t>toplayarak</a:t>
            </a:r>
            <a:r>
              <a:rPr lang="en-GB" sz="1400" dirty="0"/>
              <a:t> </a:t>
            </a:r>
            <a:r>
              <a:rPr lang="en-GB" sz="1400" dirty="0" err="1"/>
              <a:t>düz</a:t>
            </a:r>
            <a:r>
              <a:rPr lang="en-GB" sz="1400" dirty="0"/>
              <a:t>, </a:t>
            </a:r>
            <a:r>
              <a:rPr lang="en-GB" sz="1400" dirty="0" err="1"/>
              <a:t>paralel</a:t>
            </a:r>
            <a:r>
              <a:rPr lang="en-GB" sz="1400" dirty="0"/>
              <a:t> </a:t>
            </a:r>
            <a:r>
              <a:rPr lang="en-GB" sz="1400" dirty="0" err="1"/>
              <a:t>ve</a:t>
            </a:r>
            <a:r>
              <a:rPr lang="en-GB" sz="1400" dirty="0"/>
              <a:t> </a:t>
            </a:r>
            <a:r>
              <a:rPr lang="en-GB" sz="1400" dirty="0" err="1"/>
              <a:t>sapmasız</a:t>
            </a:r>
            <a:r>
              <a:rPr lang="en-GB" sz="1400" dirty="0"/>
              <a:t> </a:t>
            </a:r>
            <a:endParaRPr lang="tr-TR" sz="1400" dirty="0"/>
          </a:p>
          <a:p>
            <a:pPr>
              <a:lnSpc>
                <a:spcPct val="150000"/>
              </a:lnSpc>
            </a:pPr>
            <a:r>
              <a:rPr lang="en-GB" sz="1400" dirty="0" err="1"/>
              <a:t>bir</a:t>
            </a:r>
            <a:r>
              <a:rPr lang="en-GB" sz="1400" dirty="0"/>
              <a:t> </a:t>
            </a:r>
            <a:r>
              <a:rPr lang="en-GB" sz="1400" dirty="0" err="1"/>
              <a:t>ışın</a:t>
            </a:r>
            <a:r>
              <a:rPr lang="en-GB" sz="1400" dirty="0"/>
              <a:t> </a:t>
            </a:r>
            <a:r>
              <a:rPr lang="en-GB" sz="1400" dirty="0" err="1"/>
              <a:t>huzmesine</a:t>
            </a:r>
            <a:r>
              <a:rPr lang="en-GB" sz="1400" dirty="0"/>
              <a:t> (</a:t>
            </a:r>
            <a:r>
              <a:rPr lang="en-GB" sz="1400" dirty="0" err="1"/>
              <a:t>kolime</a:t>
            </a:r>
            <a:r>
              <a:rPr lang="en-GB" sz="1400" dirty="0"/>
              <a:t> </a:t>
            </a:r>
            <a:r>
              <a:rPr lang="en-GB" sz="1400" dirty="0" err="1"/>
              <a:t>ışık</a:t>
            </a:r>
            <a:r>
              <a:rPr lang="en-GB" sz="1400" dirty="0"/>
              <a:t>) </a:t>
            </a:r>
            <a:r>
              <a:rPr lang="en-GB" sz="1400" dirty="0" err="1"/>
              <a:t>çevirir</a:t>
            </a:r>
            <a:r>
              <a:rPr lang="en-GB" sz="1400" dirty="0"/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15×15 Grid </a:t>
            </a:r>
            <a:r>
              <a:rPr dirty="0" err="1"/>
              <a:t>Taraması</a:t>
            </a:r>
            <a:r>
              <a:rPr dirty="0"/>
              <a:t> </a:t>
            </a:r>
            <a:r>
              <a:rPr dirty="0" err="1"/>
              <a:t>Yapıldı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Yeni </a:t>
            </a:r>
            <a:r>
              <a:rPr dirty="0" err="1"/>
              <a:t>lazerle</a:t>
            </a:r>
            <a:r>
              <a:rPr dirty="0"/>
              <a:t> ilk </a:t>
            </a:r>
            <a:r>
              <a:rPr dirty="0" err="1"/>
              <a:t>sistematik</a:t>
            </a:r>
            <a:r>
              <a:rPr dirty="0"/>
              <a:t> </a:t>
            </a:r>
            <a:r>
              <a:rPr dirty="0" err="1"/>
              <a:t>ölçüm</a:t>
            </a:r>
            <a:r>
              <a:rPr dirty="0"/>
              <a:t> </a:t>
            </a:r>
            <a:r>
              <a:rPr dirty="0" err="1"/>
              <a:t>tamamlandı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Veriler</a:t>
            </a:r>
            <a:r>
              <a:rPr dirty="0"/>
              <a:t> </a:t>
            </a:r>
            <a:r>
              <a:rPr dirty="0" err="1"/>
              <a:t>analiz</a:t>
            </a:r>
            <a:r>
              <a:rPr dirty="0"/>
              <a:t> </a:t>
            </a:r>
            <a:r>
              <a:rPr dirty="0" err="1"/>
              <a:t>edilerek</a:t>
            </a:r>
            <a:r>
              <a:rPr dirty="0"/>
              <a:t> </a:t>
            </a:r>
            <a:r>
              <a:rPr dirty="0" err="1"/>
              <a:t>küresel</a:t>
            </a:r>
            <a:r>
              <a:rPr dirty="0"/>
              <a:t> </a:t>
            </a:r>
            <a:r>
              <a:rPr dirty="0" err="1"/>
              <a:t>yörünge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perspektif</a:t>
            </a:r>
            <a:r>
              <a:rPr dirty="0"/>
              <a:t> </a:t>
            </a:r>
            <a:r>
              <a:rPr dirty="0" err="1"/>
              <a:t>etkileri</a:t>
            </a:r>
            <a:r>
              <a:rPr dirty="0"/>
              <a:t> </a:t>
            </a:r>
            <a:r>
              <a:rPr dirty="0" err="1"/>
              <a:t>incelendi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Üst</a:t>
            </a:r>
            <a:r>
              <a:rPr dirty="0"/>
              <a:t>-alt </a:t>
            </a:r>
            <a:r>
              <a:rPr dirty="0" err="1"/>
              <a:t>satır</a:t>
            </a:r>
            <a:r>
              <a:rPr dirty="0"/>
              <a:t> </a:t>
            </a:r>
            <a:r>
              <a:rPr dirty="0" err="1"/>
              <a:t>genişlik</a:t>
            </a:r>
            <a:r>
              <a:rPr dirty="0"/>
              <a:t> </a:t>
            </a:r>
            <a:r>
              <a:rPr dirty="0" err="1"/>
              <a:t>farkı</a:t>
            </a:r>
            <a:r>
              <a:rPr dirty="0"/>
              <a:t> (34 </a:t>
            </a:r>
            <a:r>
              <a:rPr dirty="0" err="1"/>
              <a:t>px</a:t>
            </a:r>
            <a:r>
              <a:rPr dirty="0"/>
              <a:t>) </a:t>
            </a:r>
            <a:r>
              <a:rPr dirty="0" err="1"/>
              <a:t>perspektif</a:t>
            </a:r>
            <a:r>
              <a:rPr dirty="0"/>
              <a:t> </a:t>
            </a:r>
            <a:r>
              <a:rPr dirty="0" err="1"/>
              <a:t>eğikliğini</a:t>
            </a:r>
            <a:r>
              <a:rPr dirty="0"/>
              <a:t> </a:t>
            </a:r>
            <a:r>
              <a:rPr dirty="0" err="1"/>
              <a:t>doğruladı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endParaRPr dirty="0"/>
          </a:p>
        </p:txBody>
      </p:sp>
      <p:pic>
        <p:nvPicPr>
          <p:cNvPr id="8194" name="Picture 2" descr="17929.webp">
            <a:extLst>
              <a:ext uri="{FF2B5EF4-FFF2-40B4-BE49-F238E27FC236}">
                <a16:creationId xmlns:a16="http://schemas.microsoft.com/office/drawing/2014/main" id="{F78279AB-17DA-C35D-9873-68BAF245E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946" y="1325880"/>
            <a:ext cx="2050440" cy="205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0D2503-3F0B-0893-22DB-2BDE47B3AB78}"/>
              </a:ext>
            </a:extLst>
          </p:cNvPr>
          <p:cNvSpPr txBox="1"/>
          <p:nvPr/>
        </p:nvSpPr>
        <p:spPr>
          <a:xfrm>
            <a:off x="8306533" y="2960088"/>
            <a:ext cx="20504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i="0" dirty="0">
                <a:effectLst/>
                <a:latin typeface="+mj-lt"/>
              </a:rPr>
              <a:t>Fiber Collimator</a:t>
            </a:r>
            <a:r>
              <a:rPr lang="tr-TR" sz="1100" dirty="0">
                <a:latin typeface="+mj-lt"/>
              </a:rPr>
              <a:t>-</a:t>
            </a:r>
            <a:r>
              <a:rPr lang="en-GB" sz="1200" dirty="0"/>
              <a:t>F280SMA-B</a:t>
            </a:r>
            <a:endParaRPr lang="tr-TR" sz="1200" dirty="0"/>
          </a:p>
          <a:p>
            <a:pPr algn="ctr"/>
            <a:r>
              <a:rPr lang="en-GB" sz="1100" dirty="0">
                <a:latin typeface="+mj-lt"/>
                <a:hlinkClick r:id="rId3"/>
              </a:rPr>
              <a:t>F280SMA-B</a:t>
            </a:r>
            <a:r>
              <a:rPr lang="tr-TR" sz="1100" dirty="0">
                <a:latin typeface="+mj-lt"/>
              </a:rPr>
              <a:t> </a:t>
            </a:r>
            <a:endParaRPr lang="en-GB" sz="1100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F861DF-5A60-55C0-55D1-60788D4F0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388" y="3617985"/>
            <a:ext cx="4194052" cy="20205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Sonuç ve Değerlendirme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19/25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✓ Gimbal–Lazer </a:t>
            </a:r>
            <a:r>
              <a:rPr dirty="0" err="1"/>
              <a:t>kalibrasyon</a:t>
            </a:r>
            <a:r>
              <a:rPr dirty="0"/>
              <a:t> </a:t>
            </a:r>
            <a:r>
              <a:rPr dirty="0" err="1"/>
              <a:t>düzeneği</a:t>
            </a:r>
            <a:r>
              <a:rPr dirty="0"/>
              <a:t> </a:t>
            </a:r>
            <a:r>
              <a:rPr dirty="0" err="1"/>
              <a:t>başarıyla</a:t>
            </a:r>
            <a:r>
              <a:rPr dirty="0"/>
              <a:t> </a:t>
            </a:r>
            <a:r>
              <a:rPr dirty="0" err="1"/>
              <a:t>işlevsel</a:t>
            </a:r>
            <a:r>
              <a:rPr dirty="0"/>
              <a:t> hale </a:t>
            </a:r>
            <a:r>
              <a:rPr dirty="0" err="1"/>
              <a:t>getirildi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✓ RMS </a:t>
            </a:r>
            <a:r>
              <a:rPr dirty="0" err="1"/>
              <a:t>hata</a:t>
            </a:r>
            <a:r>
              <a:rPr dirty="0"/>
              <a:t>: 245 </a:t>
            </a:r>
            <a:r>
              <a:rPr dirty="0" err="1"/>
              <a:t>px</a:t>
            </a:r>
            <a:r>
              <a:rPr dirty="0"/>
              <a:t> → 4.9 </a:t>
            </a:r>
            <a:r>
              <a:rPr dirty="0" err="1"/>
              <a:t>px</a:t>
            </a:r>
            <a:r>
              <a:rPr dirty="0"/>
              <a:t> (50 kat </a:t>
            </a:r>
            <a:r>
              <a:rPr dirty="0" err="1"/>
              <a:t>iyileşme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✓ 5 </a:t>
            </a:r>
            <a:r>
              <a:rPr dirty="0" err="1"/>
              <a:t>kritik</a:t>
            </a:r>
            <a:r>
              <a:rPr dirty="0"/>
              <a:t> </a:t>
            </a:r>
            <a:r>
              <a:rPr dirty="0" err="1"/>
              <a:t>sorun</a:t>
            </a:r>
            <a:r>
              <a:rPr dirty="0"/>
              <a:t>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edilip</a:t>
            </a:r>
            <a:r>
              <a:rPr dirty="0"/>
              <a:t> </a:t>
            </a:r>
            <a:r>
              <a:rPr dirty="0" err="1"/>
              <a:t>sistematik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çözüldü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1. </a:t>
            </a:r>
            <a:r>
              <a:rPr dirty="0" err="1"/>
              <a:t>Eksen</a:t>
            </a:r>
            <a:r>
              <a:rPr dirty="0"/>
              <a:t> </a:t>
            </a:r>
            <a:r>
              <a:rPr dirty="0" err="1"/>
              <a:t>açısal</a:t>
            </a:r>
            <a:r>
              <a:rPr dirty="0"/>
              <a:t> </a:t>
            </a:r>
            <a:r>
              <a:rPr dirty="0" err="1"/>
              <a:t>eşitsizliği</a:t>
            </a:r>
            <a:r>
              <a:rPr dirty="0"/>
              <a:t>   2. Optik </a:t>
            </a:r>
            <a:r>
              <a:rPr dirty="0" err="1"/>
              <a:t>yansıma</a:t>
            </a:r>
            <a:r>
              <a:rPr dirty="0"/>
              <a:t>   3. </a:t>
            </a:r>
            <a:r>
              <a:rPr dirty="0" err="1"/>
              <a:t>Perspektif</a:t>
            </a:r>
            <a:r>
              <a:rPr dirty="0"/>
              <a:t>/</a:t>
            </a:r>
            <a:r>
              <a:rPr dirty="0" err="1"/>
              <a:t>Trapez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4. Backlash/Zigzag   5. </a:t>
            </a:r>
            <a:r>
              <a:rPr dirty="0" err="1"/>
              <a:t>Mekanik</a:t>
            </a:r>
            <a:r>
              <a:rPr dirty="0"/>
              <a:t> </a:t>
            </a:r>
            <a:r>
              <a:rPr dirty="0" err="1"/>
              <a:t>sabitleme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✓ </a:t>
            </a:r>
            <a:r>
              <a:rPr dirty="0" err="1"/>
              <a:t>Küresel</a:t>
            </a:r>
            <a:r>
              <a:rPr dirty="0"/>
              <a:t> </a:t>
            </a:r>
            <a:r>
              <a:rPr dirty="0" err="1"/>
              <a:t>yörünge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perspektif</a:t>
            </a:r>
            <a:r>
              <a:rPr dirty="0"/>
              <a:t> </a:t>
            </a:r>
            <a:r>
              <a:rPr dirty="0" err="1"/>
              <a:t>etkisinin</a:t>
            </a:r>
            <a:r>
              <a:rPr dirty="0"/>
              <a:t> k1/</a:t>
            </a:r>
            <a:r>
              <a:rPr dirty="0" err="1"/>
              <a:t>fx'i</a:t>
            </a:r>
            <a:r>
              <a:rPr dirty="0"/>
              <a:t> </a:t>
            </a:r>
            <a:r>
              <a:rPr dirty="0" err="1"/>
              <a:t>bozduğu</a:t>
            </a:r>
            <a:r>
              <a:rPr dirty="0"/>
              <a:t> </a:t>
            </a:r>
            <a:r>
              <a:rPr dirty="0" err="1"/>
              <a:t>kanıtlandı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✓ HeNe </a:t>
            </a:r>
            <a:r>
              <a:rPr dirty="0" err="1"/>
              <a:t>lazer</a:t>
            </a:r>
            <a:r>
              <a:rPr dirty="0"/>
              <a:t> </a:t>
            </a:r>
            <a:r>
              <a:rPr dirty="0" err="1"/>
              <a:t>entegrasyonu</a:t>
            </a:r>
            <a:r>
              <a:rPr dirty="0"/>
              <a:t> → TEM00 Gauss </a:t>
            </a:r>
            <a:r>
              <a:rPr dirty="0" err="1"/>
              <a:t>profili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centroid </a:t>
            </a:r>
            <a:r>
              <a:rPr dirty="0" err="1"/>
              <a:t>kalitesi</a:t>
            </a:r>
            <a:r>
              <a:rPr dirty="0"/>
              <a:t> ↑↑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✓ </a:t>
            </a:r>
            <a:r>
              <a:rPr dirty="0" err="1"/>
              <a:t>Hassasiyet</a:t>
            </a:r>
            <a:r>
              <a:rPr dirty="0"/>
              <a:t> </a:t>
            </a:r>
            <a:r>
              <a:rPr dirty="0" err="1"/>
              <a:t>raporu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açısal</a:t>
            </a:r>
            <a:r>
              <a:rPr dirty="0"/>
              <a:t> </a:t>
            </a:r>
            <a:r>
              <a:rPr dirty="0" err="1"/>
              <a:t>katsayılar</a:t>
            </a:r>
            <a:r>
              <a:rPr dirty="0"/>
              <a:t> </a:t>
            </a:r>
            <a:r>
              <a:rPr dirty="0" err="1"/>
              <a:t>doğrulandı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Sistemdeki</a:t>
            </a:r>
            <a:r>
              <a:rPr dirty="0"/>
              <a:t> </a:t>
            </a:r>
            <a:r>
              <a:rPr dirty="0" err="1"/>
              <a:t>tüm</a:t>
            </a:r>
            <a:r>
              <a:rPr dirty="0"/>
              <a:t> </a:t>
            </a:r>
            <a:r>
              <a:rPr dirty="0" err="1"/>
              <a:t>mekanik</a:t>
            </a:r>
            <a:r>
              <a:rPr dirty="0"/>
              <a:t>/</a:t>
            </a:r>
            <a:r>
              <a:rPr dirty="0" err="1"/>
              <a:t>optik</a:t>
            </a:r>
            <a:r>
              <a:rPr dirty="0"/>
              <a:t> </a:t>
            </a:r>
            <a:r>
              <a:rPr dirty="0" err="1"/>
              <a:t>hatalar</a:t>
            </a:r>
            <a:r>
              <a:rPr dirty="0"/>
              <a:t> </a:t>
            </a:r>
            <a:r>
              <a:rPr dirty="0" err="1"/>
              <a:t>tespit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dokümante</a:t>
            </a:r>
            <a:r>
              <a:rPr dirty="0"/>
              <a:t> </a:t>
            </a:r>
            <a:r>
              <a:rPr dirty="0" err="1"/>
              <a:t>edildi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Donanım</a:t>
            </a:r>
            <a:r>
              <a:rPr dirty="0"/>
              <a:t> </a:t>
            </a:r>
            <a:r>
              <a:rPr lang="tr-TR" dirty="0"/>
              <a:t>zamanla iyileştirildi</a:t>
            </a:r>
            <a:r>
              <a:rPr lang="en-GB" dirty="0"/>
              <a:t>, y</a:t>
            </a:r>
            <a:r>
              <a:rPr dirty="0" err="1"/>
              <a:t>azılım</a:t>
            </a:r>
            <a:r>
              <a:rPr dirty="0"/>
              <a:t> </a:t>
            </a:r>
            <a:r>
              <a:rPr dirty="0" err="1"/>
              <a:t>modeli</a:t>
            </a:r>
            <a:r>
              <a:rPr lang="en-GB" dirty="0" err="1"/>
              <a:t>nin</a:t>
            </a:r>
            <a:r>
              <a:rPr dirty="0"/>
              <a:t> 3D'ye y</a:t>
            </a:r>
            <a:r>
              <a:rPr lang="en-GB" dirty="0" err="1"/>
              <a:t>ükseltilmesi</a:t>
            </a:r>
            <a:r>
              <a:rPr lang="en-GB" dirty="0"/>
              <a:t> </a:t>
            </a:r>
            <a:r>
              <a:rPr lang="en-GB" dirty="0" err="1"/>
              <a:t>gerekiyor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Gelecek Çalışmalar ve Öneriler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TÜBİTAK UZAY — Star Tracker Optik Kalibrasyon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510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20/25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Yazılım Tarafı: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2D → 3D model yükseltmesi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 (cv2.calibrateCamera + Küresel Kinematik)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Extrinsic (R, T) otomatik hesaplama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fy işaret tutarsızlığının düzeltilmesi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Alt-piksel matematği modülü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Donanım Tarafı: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Kolimatör lens entegrasyonu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3D baskı rijit kamera taşıyıcı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Kalıcı lazer sabitleme aparatı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Kablo yönetimi düzenlemesi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Doğrulama: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Lazer-kamera mesafesinin ölçülmesi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30×30 grid ile nihai kalibrasyon seti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Chessboard ↔ Lazer-grid çapraz karşılaştırma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Gerçek yıldız görüntüleriyle uçtan uca test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Hedef Değerler: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fx ≈ 2252 (12.39mm lens ile uyum)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k1 ≈ −0.03 (Basler datasheet: −3.10%)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• RMS &lt; 1 piksel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Dinlediğiniz için teşekkürler…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0D0FF"/>
                </a:solidFill>
                <a:latin typeface="Calibri"/>
              </a:defRPr>
            </a:pPr>
            <a:r>
              <a:rPr dirty="0" err="1"/>
              <a:t>Sorular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TÜBİTAK UZAY — Star Tracker Optik Kalibrasyon Çalışması — Ağustos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2863</Words>
  <Application>Microsoft Office PowerPoint</Application>
  <PresentationFormat>Widescreen</PresentationFormat>
  <Paragraphs>503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İdil Su Nokta</cp:lastModifiedBy>
  <cp:revision>9</cp:revision>
  <dcterms:created xsi:type="dcterms:W3CDTF">2013-01-27T09:14:16Z</dcterms:created>
  <dcterms:modified xsi:type="dcterms:W3CDTF">2026-08-14T11:34:16Z</dcterms:modified>
  <cp:category/>
</cp:coreProperties>
</file>