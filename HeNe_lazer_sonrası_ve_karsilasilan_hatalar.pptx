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85" r:id="rId5"/>
    <p:sldId id="276" r:id="rId6"/>
    <p:sldId id="275" r:id="rId7"/>
    <p:sldId id="286" r:id="rId8"/>
    <p:sldId id="280" r:id="rId9"/>
    <p:sldId id="281" r:id="rId10"/>
    <p:sldId id="283" r:id="rId11"/>
    <p:sldId id="274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9" r:id="rId21"/>
    <p:sldId id="268" r:id="rId22"/>
    <p:sldId id="270" r:id="rId23"/>
    <p:sldId id="284" r:id="rId24"/>
    <p:sldId id="26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B1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9:46:10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58,'53'-2,"0"-4,69-15,-69 11,0 2,74-3,121 27,5-1,171-16,-394 3,1 1,39 9,-5 0,-6-3,-5-1,74 3,53-11,-155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9:46:13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32,'0'-1,"1"0,-1 0,0 0,1 0,-1 0,0 0,1 0,0 0,-1 1,1-1,-1 0,1 0,0 1,-1-1,1 0,0 1,0-1,0 0,0 1,0-1,-1 1,1 0,0-1,0 1,0 0,2-1,30-5,-30 6,82-6,114 6,-73 3,16-5,154 5,-202 10,11 0,0 2,-71-9,52 3,572-8,-314-3,236 2,-570 0,0 1,0 0,1 1,-1 0,11 3,-3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9:46:16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1 250,'6'-5,"0"0,0 1,1-1,-1 1,1 1,0-1,0 1,0 0,8-1,74-15,-47 11,-2 1,1 2,54 1,-17 1,23-10,-65 7,44-2,519 7,-291 3,-292-4,0 0,-1-1,1 0,-1-1,0-1,0 0,26-14,-20 9,1 1,41-10,-7 7,107-9,-143 20,0 1,0 1,0 0,0 2,0 1,0 0,-1 1,0 1,20 9,-2 3,0-2,2-2,57 14,-62-20,0-1,36 4,-57-10,0 0,0-1,1-1,-1-1,0 1,15-5,-10 1,28-7,0-1,86-39,-128 50,-1 0,1 0,-1-1,1 1,-1-1,0 0,0 1,0-1,-1-1,1 1,-1 0,1-1,-1 1,0-1,2-7,2-8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45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customXml" Target="../ink/ink3.xml"/><Relationship Id="rId4" Type="http://schemas.openxmlformats.org/officeDocument/2006/relationships/image" Target="../media/image25.emf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emf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6858000" cy="6858000"/>
          </a:xfrm>
          <a:prstGeom prst="ellipse">
            <a:avLst/>
          </a:prstGeom>
          <a:ln w="31750">
            <a:solidFill>
              <a:srgbClr val="162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ln w="17780">
            <a:solidFill>
              <a:srgbClr val="E3B23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 UZAY  ·  GIMBAL–LAZER KALIBRASYON ÇALIŞMASI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Gimbal–Lazer Kalibrasyonu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Kuplaj Etkisi ve Açısal Tarama Analizi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incelenen iki temel sorun, matematiksel kökeni ve alınan ölçümler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Ağustos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BAŞLANGIÇ NOKTASI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Gimbal Dönerken Mesafe de Değişiyor</a:t>
            </a:r>
            <a:endParaRPr lang="en-US" sz="3000" dirty="0"/>
          </a:p>
        </p:txBody>
      </p:sp>
      <p:pic>
        <p:nvPicPr>
          <p:cNvPr id="4" name="Image 0" descr="img/d1_a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20"/>
            <a:ext cx="6492240" cy="30721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783080"/>
            <a:ext cx="432785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196596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sabit değil
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yarıçapı boyunca lazer ucu kamera bakış açısından uzaklaşıp yaklaşıyor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60920" y="3383280"/>
            <a:ext cx="4327855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35240" y="3566160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deneme: tam poz
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(dönüş) ve T (öteleme) matrisleri birlikte modellenmeye çalışıldı</a:t>
            </a:r>
            <a:endParaRPr lang="en-US" sz="1600" dirty="0"/>
          </a:p>
        </p:txBody>
      </p:sp>
      <p:pic>
        <p:nvPicPr>
          <p:cNvPr id="9" name="Image 1" descr="img/d1_coll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57800"/>
            <a:ext cx="3961335" cy="1874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46320" y="5806440"/>
            <a:ext cx="6842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yönü: kolimasyon → sadece AÇI önemli, T gereksiz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41962-E4D2-2934-634E-761244E3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7B75A6-6A34-D61C-079D-FF313BBEB874}"/>
              </a:ext>
            </a:extLst>
          </p:cNvPr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spc="200">
                <a:solidFill>
                  <a:srgbClr val="8A6316"/>
                </a:solidFill>
                <a:latin typeface="Calibri"/>
              </a:rPr>
              <a:t>SİSTEM — IŞIK KAYNAĞI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E14A5-1926-09A1-D21C-788C3C47985F}"/>
              </a:ext>
            </a:extLst>
          </p:cNvPr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 err="1">
                <a:solidFill>
                  <a:srgbClr val="0B1D3A"/>
                </a:solidFill>
                <a:latin typeface="Cambria"/>
              </a:rPr>
              <a:t>Neden</a:t>
            </a:r>
            <a:r>
              <a:rPr sz="3000" b="1" dirty="0">
                <a:solidFill>
                  <a:srgbClr val="0B1D3A"/>
                </a:solidFill>
                <a:latin typeface="Cambria"/>
              </a:rPr>
              <a:t> He-Ne Lazer?</a:t>
            </a:r>
          </a:p>
        </p:txBody>
      </p:sp>
      <p:graphicFrame>
        <p:nvGraphicFramePr>
          <p:cNvPr id="15" name="Tablo 14">
            <a:extLst>
              <a:ext uri="{FF2B5EF4-FFF2-40B4-BE49-F238E27FC236}">
                <a16:creationId xmlns:a16="http://schemas.microsoft.com/office/drawing/2014/main" id="{6822891B-524D-AB43-C8BE-82449676D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077421"/>
              </p:ext>
            </p:extLst>
          </p:nvPr>
        </p:nvGraphicFramePr>
        <p:xfrm>
          <a:off x="838200" y="2649894"/>
          <a:ext cx="8445759" cy="4112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5253">
                  <a:extLst>
                    <a:ext uri="{9D8B030D-6E8A-4147-A177-3AD203B41FA5}">
                      <a16:colId xmlns:a16="http://schemas.microsoft.com/office/drawing/2014/main" val="710212229"/>
                    </a:ext>
                  </a:extLst>
                </a:gridCol>
                <a:gridCol w="2815253">
                  <a:extLst>
                    <a:ext uri="{9D8B030D-6E8A-4147-A177-3AD203B41FA5}">
                      <a16:colId xmlns:a16="http://schemas.microsoft.com/office/drawing/2014/main" val="516834241"/>
                    </a:ext>
                  </a:extLst>
                </a:gridCol>
                <a:gridCol w="2815253">
                  <a:extLst>
                    <a:ext uri="{9D8B030D-6E8A-4147-A177-3AD203B41FA5}">
                      <a16:colId xmlns:a16="http://schemas.microsoft.com/office/drawing/2014/main" val="1231707773"/>
                    </a:ext>
                  </a:extLst>
                </a:gridCol>
              </a:tblGrid>
              <a:tr h="3268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tr-TR" sz="15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 dirty="0">
                          <a:effectLst/>
                        </a:rPr>
                        <a:t>Eski lazer</a:t>
                      </a:r>
                      <a:endParaRPr lang="tr-TR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 dirty="0">
                          <a:effectLst/>
                        </a:rPr>
                        <a:t>He-Ne</a:t>
                      </a:r>
                      <a:endParaRPr lang="tr-TR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93509619"/>
                  </a:ext>
                </a:extLst>
              </a:tr>
              <a:tr h="388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Dalga boyu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635 nm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~632.8 nm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8624059"/>
                  </a:ext>
                </a:extLst>
              </a:tr>
              <a:tr h="102413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Güç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 dirty="0">
                          <a:effectLst/>
                        </a:rPr>
                        <a:t>&lt;1 </a:t>
                      </a:r>
                      <a:r>
                        <a:rPr lang="tr-TR" sz="1500" kern="100" dirty="0" err="1">
                          <a:effectLst/>
                        </a:rPr>
                        <a:t>mW</a:t>
                      </a:r>
                      <a:endParaRPr lang="tr-TR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2mW-5mW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979511"/>
                  </a:ext>
                </a:extLst>
              </a:tr>
              <a:tr h="5688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Besleme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USB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Harici He-Ne güç kaynağı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8942863"/>
                  </a:ext>
                </a:extLst>
              </a:tr>
              <a:tr h="388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Kaynak tipi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Kompakt lazer modülü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Gaz lazeri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39274380"/>
                  </a:ext>
                </a:extLst>
              </a:tr>
              <a:tr h="388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Deneyde amaç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Temel lazer noktası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Daha kontrollü optik referans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3878200"/>
                  </a:ext>
                </a:extLst>
              </a:tr>
              <a:tr h="639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Beam karakteristiği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Modülün optik tasarımına bağlı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Gaz lazerinin rezonatör yapısıyla belirlenmiş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6729521"/>
                  </a:ext>
                </a:extLst>
              </a:tr>
              <a:tr h="3883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Sistemimizde rolü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>
                          <a:effectLst/>
                        </a:rPr>
                        <a:t>İlk prototip</a:t>
                      </a:r>
                      <a:endParaRPr lang="tr-TR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tr-TR" sz="1500" kern="100" dirty="0">
                          <a:effectLst/>
                        </a:rPr>
                        <a:t>Daha kontrollü deneysel kaynak</a:t>
                      </a:r>
                      <a:endParaRPr lang="tr-TR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624175"/>
                  </a:ext>
                </a:extLst>
              </a:tr>
            </a:tbl>
          </a:graphicData>
        </a:graphic>
      </p:graphicFrame>
      <p:pic>
        <p:nvPicPr>
          <p:cNvPr id="17" name="Picture 3" descr="assets_reo_panel.png">
            <a:extLst>
              <a:ext uri="{FF2B5EF4-FFF2-40B4-BE49-F238E27FC236}">
                <a16:creationId xmlns:a16="http://schemas.microsoft.com/office/drawing/2014/main" id="{414E6B4A-1B17-96DC-4E88-840BD5A0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002" y="398044"/>
            <a:ext cx="4439533" cy="207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5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A1EC6E-2654-18AF-1A12-A5B194B29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8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spc="200">
                <a:solidFill>
                  <a:srgbClr val="8A6316"/>
                </a:solidFill>
                <a:latin typeface="Calibri"/>
              </a:rPr>
              <a:t>SİSTEM — IŞIK YÖNLENDİRME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B1D3A"/>
                </a:solidFill>
                <a:latin typeface="Cambria"/>
              </a:rPr>
              <a:t>Neden Kolimatör Lens?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492240" cy="30721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783080"/>
            <a:ext cx="432785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965960"/>
            <a:ext cx="3779215" cy="460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B1D3A"/>
                </a:solidFill>
                <a:latin typeface="Calibri"/>
              </a:rPr>
              <a:t>Kolimatörün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404872"/>
            <a:ext cx="3779215" cy="6136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 dirty="0" err="1">
                <a:solidFill>
                  <a:srgbClr val="5B6B85"/>
                </a:solidFill>
                <a:latin typeface="Calibri"/>
              </a:rPr>
              <a:t>Işının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diverjansını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azaltarak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kameraya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daha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kontrollü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ve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yaklaşık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paralel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bir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demet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göndermek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.</a:t>
            </a:r>
            <a:endParaRPr lang="tr-TR" sz="1250" b="0" i="0" dirty="0">
              <a:solidFill>
                <a:srgbClr val="5B6B85"/>
              </a:solidFill>
              <a:latin typeface="Calibri"/>
            </a:endParaRPr>
          </a:p>
          <a:p>
            <a:pPr algn="l">
              <a:lnSpc>
                <a:spcPct val="108000"/>
              </a:lnSpc>
            </a:pPr>
            <a:endParaRPr sz="1250" b="0" i="0" dirty="0">
              <a:solidFill>
                <a:srgbClr val="5B6B85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60920" y="3383280"/>
            <a:ext cx="4327855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635240" y="3566160"/>
            <a:ext cx="3779215" cy="460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1600" b="1" i="0" dirty="0">
                <a:solidFill>
                  <a:srgbClr val="0B1D3A"/>
                </a:solidFill>
                <a:latin typeface="Calibri"/>
              </a:rPr>
              <a:t>Bizim lensimiz: </a:t>
            </a:r>
            <a:r>
              <a:rPr lang="tr-TR" sz="1600" b="1" i="0" dirty="0" err="1">
                <a:solidFill>
                  <a:srgbClr val="0B1D3A"/>
                </a:solidFill>
                <a:latin typeface="Calibri"/>
              </a:rPr>
              <a:t>Thorlabs</a:t>
            </a:r>
            <a:r>
              <a:rPr lang="tr-TR" sz="1600" b="1" i="0" dirty="0">
                <a:solidFill>
                  <a:srgbClr val="0B1D3A"/>
                </a:solidFill>
                <a:latin typeface="Calibri"/>
              </a:rPr>
              <a:t> F280SMA-B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005072"/>
            <a:ext cx="377921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 dirty="0">
                <a:solidFill>
                  <a:srgbClr val="5B6B85"/>
                </a:solidFill>
                <a:latin typeface="Calibri"/>
              </a:rPr>
              <a:t>633 nm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için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optimize, f = 18.24 mm, NA = 0.15, SMA905 fiber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girişine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uygun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kolimasyon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B6B85"/>
                </a:solidFill>
                <a:latin typeface="Calibri"/>
              </a:rPr>
              <a:t>paketi</a:t>
            </a:r>
            <a:r>
              <a:rPr sz="1250" b="0" i="0" dirty="0">
                <a:solidFill>
                  <a:srgbClr val="5B6B85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assets_lens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66360"/>
            <a:ext cx="146705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01490" y="5166360"/>
            <a:ext cx="8984541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 dirty="0" err="1">
                <a:solidFill>
                  <a:srgbClr val="8A6316"/>
                </a:solidFill>
                <a:latin typeface="Calibri"/>
              </a:rPr>
              <a:t>Kolimasyon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sonrası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tam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açı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ışın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diverjansı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≈0.015° (0.262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mrad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)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düzeyine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8A6316"/>
                </a:solidFill>
                <a:latin typeface="Calibri"/>
              </a:rPr>
              <a:t>küçülüyor</a:t>
            </a:r>
            <a:r>
              <a:rPr sz="1450" b="1" i="0" dirty="0">
                <a:solidFill>
                  <a:srgbClr val="8A6316"/>
                </a:solidFill>
                <a:latin typeface="Calibri"/>
              </a:rPr>
              <a:t>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39C56B3-6CA6-5937-2494-5CED3D89FB63}"/>
              </a:ext>
            </a:extLst>
          </p:cNvPr>
          <p:cNvSpPr txBox="1"/>
          <p:nvPr/>
        </p:nvSpPr>
        <p:spPr>
          <a:xfrm>
            <a:off x="8973879" y="5380074"/>
            <a:ext cx="2714896" cy="87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spc="200">
                <a:solidFill>
                  <a:srgbClr val="8A6316"/>
                </a:solidFill>
                <a:latin typeface="Calibri"/>
              </a:rPr>
              <a:t>MATEMATİKSEL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B1D3A"/>
                </a:solidFill>
                <a:latin typeface="Cambria"/>
              </a:rPr>
              <a:t>Extrinsic Parametreler Nedir?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1D3A"/>
                </a:solidFill>
                <a:latin typeface="Cambria"/>
              </a:rPr>
              <a:t>İÇ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574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50" b="1" i="0">
                <a:solidFill>
                  <a:srgbClr val="0B1D3A"/>
                </a:solidFill>
                <a:latin typeface="Cambria"/>
              </a:rPr>
              <a:t>Intrinsic Parametreler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B85"/>
                </a:solidFill>
                <a:latin typeface="Calibri"/>
              </a:rPr>
              <a:t>Kameranın kendi optik özellikleri: fx, fy (odak uzaklığı), cx, cy (optik merkez), distortion katsayıları.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1965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574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50" b="1" i="0">
                <a:solidFill>
                  <a:srgbClr val="0B1D3A"/>
                </a:solidFill>
                <a:latin typeface="Cambria"/>
              </a:rPr>
              <a:t>Extrinsic Parametreler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B85"/>
                </a:solidFill>
                <a:latin typeface="Calibri"/>
              </a:rPr>
              <a:t>Bir noktanın bir koordinat sisteminden diğerine dönüşümü: R (rotasyon) ve T (translasyon).</a:t>
            </a:r>
          </a:p>
        </p:txBody>
      </p:sp>
      <p:pic>
        <p:nvPicPr>
          <p:cNvPr id="14" name="Picture 13" descr="eq_x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977639"/>
            <a:ext cx="3963195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95604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0" i="1">
                <a:solidFill>
                  <a:srgbClr val="5B6B85"/>
                </a:solidFill>
                <a:latin typeface="Calibri"/>
              </a:rPr>
              <a:t>R: koordinat sisteminin yönünü değiştirir  →  “hangi yöne bakıyor?”      T: orijinini taşır  →  “nerede duruyor?”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FBF1DC"/>
          </a:solidFill>
          <a:ln w="15240">
            <a:solidFill>
              <a:srgbClr val="E3B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195559" cy="9144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500">
                <a:solidFill>
                  <a:srgbClr val="8A6316"/>
                </a:solidFill>
                <a:latin typeface="Calibri"/>
              </a:rPr>
              <a:t>Neden ihtiyaç duyduk:  </a:t>
            </a:r>
            <a:r>
              <a:rPr sz="1700" b="1">
                <a:solidFill>
                  <a:srgbClr val="0B1D3A"/>
                </a:solidFill>
                <a:latin typeface="Calibri"/>
              </a:rPr>
              <a:t>gimbal (lazer) koordinat sistemi ↔ kamera koordinat sistemi.  </a:t>
            </a:r>
            <a:r>
              <a:rPr sz="1300">
                <a:solidFill>
                  <a:srgbClr val="5B6B85"/>
                </a:solidFill>
                <a:latin typeface="Calibri"/>
              </a:rPr>
              <a:t>Kullanınca ne değişti: gimbal açısından hesaplanan lazer yönü, doğrudan kameradaki beklenen piksel konumuna eşlenebildi.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2F726-490E-B92E-B5A4-A3ED13AE6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00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i="0" spc="200">
                <a:solidFill>
                  <a:srgbClr val="8A6316"/>
                </a:solidFill>
                <a:latin typeface="Calibri"/>
              </a:rPr>
              <a:t>MATEMATİKSEL MODEL — EXTRINSIC MATRİS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B1D3A"/>
                </a:solidFill>
                <a:latin typeface="Cambria"/>
              </a:rPr>
              <a:t>Extrinsic Matris: Genel Formül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33060" cy="3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40" y="2003080"/>
            <a:ext cx="479306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50">
                <a:solidFill>
                  <a:srgbClr val="8A6316"/>
                </a:solidFill>
                <a:latin typeface="Calibri"/>
              </a:rPr>
              <a:t>GENEL DÖNÜŞÜM DENKLEMİ</a:t>
            </a:r>
          </a:p>
        </p:txBody>
      </p:sp>
      <p:pic>
        <p:nvPicPr>
          <p:cNvPr id="6" name="Picture 5" descr="eq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40" y="2423675"/>
            <a:ext cx="4793060" cy="5788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40" y="3113080"/>
            <a:ext cx="479306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B1D3A"/>
                </a:solidFill>
                <a:latin typeface="Calibri"/>
              </a:rPr>
              <a:t>R</a:t>
            </a:r>
            <a:r>
              <a:rPr sz="1250">
                <a:solidFill>
                  <a:srgbClr val="5B6B85"/>
                </a:solidFill>
                <a:latin typeface="Calibri"/>
              </a:rPr>
              <a:t> — rotasyon matrisi: koordinat sisteminin yönünü değiştirir (3×3).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 b="1">
                <a:solidFill>
                  <a:srgbClr val="0B1D3A"/>
                </a:solidFill>
                <a:latin typeface="Calibri"/>
              </a:rPr>
              <a:t>T</a:t>
            </a:r>
            <a:r>
              <a:rPr sz="1250">
                <a:solidFill>
                  <a:srgbClr val="5B6B85"/>
                </a:solidFill>
                <a:latin typeface="Calibri"/>
              </a:rPr>
              <a:t> — translasyon vektörü: iki merkez arasındaki öteleme (3×1, cm).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40" y="3833080"/>
            <a:ext cx="479306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150">
                <a:solidFill>
                  <a:srgbClr val="8A6316"/>
                </a:solidFill>
                <a:latin typeface="Calibri"/>
              </a:rPr>
              <a:t>ROTASYON MATRİSİNİN ÖZELLİKLERİ</a:t>
            </a:r>
          </a:p>
        </p:txBody>
      </p:sp>
      <p:pic>
        <p:nvPicPr>
          <p:cNvPr id="9" name="Picture 8" descr="prop_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40" y="4163080"/>
            <a:ext cx="1322068" cy="360000"/>
          </a:xfrm>
          <a:prstGeom prst="rect">
            <a:avLst/>
          </a:prstGeom>
        </p:spPr>
      </p:pic>
      <p:pic>
        <p:nvPicPr>
          <p:cNvPr id="10" name="Picture 9" descr="prop_d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326" y="4163080"/>
            <a:ext cx="1360305" cy="360000"/>
          </a:xfrm>
          <a:prstGeom prst="rect">
            <a:avLst/>
          </a:prstGeom>
        </p:spPr>
      </p:pic>
      <p:pic>
        <p:nvPicPr>
          <p:cNvPr id="11" name="Picture 10" descr="prop_i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12" y="4163080"/>
            <a:ext cx="1449310" cy="360000"/>
          </a:xfrm>
          <a:prstGeom prst="rect">
            <a:avLst/>
          </a:prstGeom>
        </p:spPr>
      </p:pic>
      <p:pic>
        <p:nvPicPr>
          <p:cNvPr id="12" name="Picture 11" descr="prop_rever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40" y="4583080"/>
            <a:ext cx="2358156" cy="38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0300" y="1783080"/>
            <a:ext cx="5433060" cy="3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0300" y="2003080"/>
            <a:ext cx="479306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50">
                <a:solidFill>
                  <a:srgbClr val="8A6316"/>
                </a:solidFill>
                <a:latin typeface="Calibri"/>
              </a:rPr>
              <a:t>SAYISAL ÖRNEK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300" y="2343080"/>
            <a:ext cx="479306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B85"/>
                </a:solidFill>
                <a:latin typeface="Calibri"/>
              </a:rPr>
              <a:t>Gimbal koordinatındaki lazer noktası, kamera koordinatına taşınıyor (yalnızca öteleme):</a:t>
            </a:r>
          </a:p>
        </p:txBody>
      </p:sp>
      <p:pic>
        <p:nvPicPr>
          <p:cNvPr id="16" name="Picture 15" descr="ex_giv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300" y="2933080"/>
            <a:ext cx="2346329" cy="56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0300" y="3563080"/>
            <a:ext cx="479306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B1D3A"/>
                </a:solidFill>
                <a:latin typeface="Calibri"/>
              </a:rPr>
              <a:t>↓  P_C = R P_G + T</a:t>
            </a:r>
          </a:p>
        </p:txBody>
      </p:sp>
      <p:pic>
        <p:nvPicPr>
          <p:cNvPr id="18" name="Picture 17" descr="ex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300" y="3913080"/>
            <a:ext cx="2011746" cy="56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0300" y="4603080"/>
            <a:ext cx="4793060" cy="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5B6B85"/>
                </a:solidFill>
                <a:latin typeface="Calibri"/>
              </a:rPr>
              <a:t>Bu örnekte R = I (eksenler paralel, sadece öteleme var). Genel durumda R, noktayı ayrıca döndürür.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3080"/>
            <a:ext cx="11094720" cy="900000"/>
          </a:xfrm>
          <a:prstGeom prst="roundRect">
            <a:avLst>
              <a:gd name="adj" fmla="val 9000"/>
            </a:avLst>
          </a:prstGeom>
          <a:solidFill>
            <a:srgbClr val="FBF1DC"/>
          </a:solidFill>
          <a:ln w="15240">
            <a:solidFill>
              <a:srgbClr val="E3B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640" y="5533080"/>
            <a:ext cx="1037472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8A6316"/>
                </a:solidFill>
                <a:latin typeface="Calibri"/>
              </a:rPr>
              <a:t>Özet:  </a:t>
            </a:r>
            <a:r>
              <a:rPr sz="1350" b="1">
                <a:solidFill>
                  <a:srgbClr val="0B1D3A"/>
                </a:solidFill>
                <a:latin typeface="Calibri"/>
              </a:rPr>
              <a:t>R gimbal koordinat sisteminin kameraya göre yönünü, T ise iki merkez arasındaki öteleme mesafesini tanımlar. </a:t>
            </a:r>
            <a:r>
              <a:rPr sz="1250">
                <a:solidFill>
                  <a:srgbClr val="5B6B85"/>
                </a:solidFill>
                <a:latin typeface="Calibri"/>
              </a:rPr>
              <a:t>Bu ikisi birleşerek gimbal/lazer koordinatındaki bir noktayı (X_G) kamera koordinatına (X_C) taşıyan extrinsic matrisi oluşturur.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9500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i="0" spc="200">
                <a:solidFill>
                  <a:srgbClr val="8A6316"/>
                </a:solidFill>
                <a:latin typeface="Calibri"/>
              </a:rPr>
              <a:t>MATEMATİKSEL MODEL — ROTASYON MATRİSLERİ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0B1D3A"/>
                </a:solidFill>
                <a:latin typeface="Cambria"/>
              </a:rPr>
              <a:t>Rx, Ry, Rz: Eksen Etrafında Dönüş Matrisleri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45840" cy="3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8640" y="2003080"/>
            <a:ext cx="302584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 spc="100">
                <a:solidFill>
                  <a:srgbClr val="8A6316"/>
                </a:solidFill>
                <a:latin typeface="Calibri"/>
              </a:rPr>
              <a:t>X EKSENİ ETRAFINDA</a:t>
            </a:r>
          </a:p>
        </p:txBody>
      </p:sp>
      <p:pic>
        <p:nvPicPr>
          <p:cNvPr id="6" name="Picture 5" descr="eq_R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40" y="2813085"/>
            <a:ext cx="3025840" cy="1139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8640" y="4533080"/>
            <a:ext cx="302584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B85"/>
                </a:solidFill>
                <a:latin typeface="Calibri"/>
              </a:rPr>
              <a:t>Y-Z düzleminde döner; X sabit kalır.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3080" y="1783080"/>
            <a:ext cx="3545840" cy="3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3080" y="2003080"/>
            <a:ext cx="302584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 spc="100">
                <a:solidFill>
                  <a:srgbClr val="8A6316"/>
                </a:solidFill>
                <a:latin typeface="Calibri"/>
              </a:rPr>
              <a:t>Y EKSENİ ETRAFINDA</a:t>
            </a:r>
          </a:p>
        </p:txBody>
      </p:sp>
      <p:pic>
        <p:nvPicPr>
          <p:cNvPr id="10" name="Picture 9" descr="eq_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080" y="2811199"/>
            <a:ext cx="3025840" cy="11437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83080" y="4533080"/>
            <a:ext cx="302584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B85"/>
                </a:solidFill>
                <a:latin typeface="Calibri"/>
              </a:rPr>
              <a:t>X-Z düzleminde döner; Y sabit kalır.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520" y="1783080"/>
            <a:ext cx="3545840" cy="3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7520" y="2003080"/>
            <a:ext cx="302584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 spc="100">
                <a:solidFill>
                  <a:srgbClr val="8A6316"/>
                </a:solidFill>
                <a:latin typeface="Calibri"/>
              </a:rPr>
              <a:t>Z EKSENİ ETRAFINDA</a:t>
            </a:r>
          </a:p>
        </p:txBody>
      </p:sp>
      <p:pic>
        <p:nvPicPr>
          <p:cNvPr id="14" name="Picture 13" descr="eq_R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520" y="2810725"/>
            <a:ext cx="3025840" cy="11447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57520" y="4533080"/>
            <a:ext cx="302584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B85"/>
                </a:solidFill>
                <a:latin typeface="Calibri"/>
              </a:rPr>
              <a:t>X-Y düzleminde döner; Z sabit kalır.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3080"/>
            <a:ext cx="11094720" cy="900000"/>
          </a:xfrm>
          <a:prstGeom prst="roundRect">
            <a:avLst>
              <a:gd name="adj" fmla="val 9000"/>
            </a:avLst>
          </a:prstGeom>
          <a:solidFill>
            <a:srgbClr val="FBF1DC"/>
          </a:solidFill>
          <a:ln w="15240">
            <a:solidFill>
              <a:srgbClr val="E3B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640" y="5533080"/>
            <a:ext cx="1037472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8A6316"/>
                </a:solidFill>
                <a:latin typeface="Calibri"/>
              </a:rPr>
              <a:t>Sıra önemlidir:  </a:t>
            </a:r>
            <a:r>
              <a:rPr sz="1350" b="1">
                <a:solidFill>
                  <a:srgbClr val="0B1D3A"/>
                </a:solidFill>
                <a:latin typeface="Calibri"/>
              </a:rPr>
              <a:t>Rx·Ry ≠ Ry·Rx — 3B dönüşler yer değiştirmez (non-commutative). </a:t>
            </a:r>
            <a:r>
              <a:rPr sz="1250">
                <a:solidFill>
                  <a:srgbClr val="5B6B85"/>
                </a:solidFill>
                <a:latin typeface="Calibri"/>
              </a:rPr>
              <a:t>Gimbalin fiziksel dönüş sırası (önce iç eksen, sonra dış eksen), matris çarpım sırasına birebir karşılık gelir.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7F964-8F7B-BE41-750F-D3351005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1" spc="200">
                <a:solidFill>
                  <a:srgbClr val="8A6316"/>
                </a:solidFill>
                <a:latin typeface="Calibri"/>
              </a:rPr>
              <a:t>MATEMATİKSEL MODEL — R vs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0B1D3A"/>
                </a:solidFill>
                <a:latin typeface="Cambria"/>
              </a:rPr>
              <a:t>Neden R Var, T Yok?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2075688"/>
            <a:ext cx="146304" cy="146304"/>
          </a:xfrm>
          <a:prstGeom prst="ellipse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9384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6223B"/>
                </a:solidFill>
                <a:latin typeface="Cambria"/>
              </a:rPr>
              <a:t>Kamera sabit, gimbal sabit bir mekanik 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B6B85"/>
                </a:solidFill>
                <a:latin typeface="Calibri"/>
              </a:rPr>
              <a:t>sistem, her karede yeniden çözülmesi gereken bilinmeyen bir poza sahip değil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264408"/>
            <a:ext cx="146304" cy="146304"/>
          </a:xfrm>
          <a:prstGeom prst="ellipse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18103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6223B"/>
                </a:solidFill>
                <a:latin typeface="Cambria"/>
              </a:rPr>
              <a:t>Lazer / pinhole gimbal üzerinde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38727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B6B85"/>
                </a:solidFill>
                <a:latin typeface="Calibri"/>
              </a:rPr>
              <a:t>pivot noktalarının ve mesafelerin fiziksel ölçümü elimizde mevcut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453127"/>
            <a:ext cx="146304" cy="146304"/>
          </a:xfrm>
          <a:prstGeom prst="ellipse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06824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6223B"/>
                </a:solidFill>
                <a:latin typeface="Cambria"/>
              </a:rPr>
              <a:t>Zhang / checkerboard yönteminden farkımız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2744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5B6B85"/>
                </a:solidFill>
                <a:latin typeface="Calibri"/>
              </a:rPr>
              <a:t>“hedef kameraya göre nerede?” sorusunu her karede yeniden çözmüyoruz — mekanik geometri biliniyor</a:t>
            </a:r>
          </a:p>
        </p:txBody>
      </p:sp>
      <p:pic>
        <p:nvPicPr>
          <p:cNvPr id="13" name="Picture 12" descr="eq_pl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1720"/>
            <a:ext cx="5120640" cy="652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32461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5B6B85"/>
                </a:solidFill>
                <a:latin typeface="Calibri"/>
              </a:rPr>
              <a:t>gimbal kinematiğinden lazerin konumunu/yönünü hesaplayan fiziksel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947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16223B"/>
                </a:solidFill>
                <a:latin typeface="Calibri"/>
              </a:rPr>
              <a:t>P₀ ≈ ölçülmüş mekanik offset (yaklaşık 20.5 cm, 5 cm, 21 cm)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0927080" cy="960120"/>
          </a:xfrm>
          <a:prstGeom prst="roundRect">
            <a:avLst>
              <a:gd name="adj" fmla="val 9000"/>
            </a:avLst>
          </a:prstGeom>
          <a:solidFill>
            <a:srgbClr val="FBF1DC"/>
          </a:solidFill>
          <a:ln w="15240">
            <a:solidFill>
              <a:srgbClr val="E3B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195559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sz="1700" b="1">
                <a:solidFill>
                  <a:srgbClr val="0B1D3A"/>
                </a:solidFill>
                <a:latin typeface="Calibri"/>
              </a:rPr>
              <a:t>R eksenlerin dönüşünü temsil etmek için gerçekten gerekli.  </a:t>
            </a:r>
            <a:r>
              <a:rPr sz="1300">
                <a:solidFill>
                  <a:srgbClr val="5B6B85"/>
                </a:solidFill>
                <a:latin typeface="Calibri"/>
              </a:rPr>
              <a:t>T'yi bağımsız bir bilinmeyen olarak optimize etmiyoruz — ölçülmüş mekanik mesafelerden (P₀) türetiyoruz.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İncelenen İki Sorun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Eşit Açısal Aralık</a:t>
            </a:r>
            <a:endParaRPr lang="en-US" sz="2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Taramıyor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Elevasyon ve azimut eksenleri, aynı fiziksel sapmada farklı açısal aralık taranıyor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0808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286000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Kuplaj</a:t>
            </a:r>
            <a:endParaRPr lang="en-US" sz="2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Etkisi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4069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eksen birbirinden bağımsız değil — seri sistemde eksenler birbirini etkiliyor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Ek bulgu:  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sensöre bağlı, konumu sabit aykırı (outlier) noktalar da tespit edildi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2 — KUPLAJ ETKISI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Oluşuyor: Seri Kinematik Zincir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30552"/>
            <a:ext cx="146304" cy="146304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 sistem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eksenler art arda bağlı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620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Dünyaya göre sabit yön  ≠  eksenin kendi yönü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94360" y="3922776"/>
            <a:ext cx="146304" cy="146304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İÇ eksen (elevasyon)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14400" y="42153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taşınan eksen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E3B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65429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 DIŞ eksen (azimut)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4400" y="5111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dünyaya göre sabit eksen</a:t>
            </a:r>
            <a:endParaRPr lang="en-US" sz="1250" dirty="0"/>
          </a:p>
        </p:txBody>
      </p:sp>
      <p:pic>
        <p:nvPicPr>
          <p:cNvPr id="15" name="Image 0" descr="img/d2_gim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55" y="1691640"/>
            <a:ext cx="5120640" cy="46741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KUPLAJ — MATEMATIK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5131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Dönüş Matrisleri</a:t>
            </a:r>
            <a:endParaRPr lang="en-US" sz="2800" dirty="0"/>
          </a:p>
        </p:txBody>
      </p:sp>
      <p:pic>
        <p:nvPicPr>
          <p:cNvPr id="4" name="Image 0" descr="img/m1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311" y="1965960"/>
            <a:ext cx="8649073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8CA52-23AA-E606-15F9-ABFB217105B5}"/>
              </a:ext>
            </a:extLst>
          </p:cNvPr>
          <p:cNvSpPr txBox="1"/>
          <p:nvPr/>
        </p:nvSpPr>
        <p:spPr>
          <a:xfrm>
            <a:off x="3606800" y="170435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tr-TR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_final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Ry(</a:t>
            </a:r>
            <a:r>
              <a:rPr lang="el-GR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α)·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Rx(</a:t>
            </a:r>
            <a:r>
              <a:rPr lang="el-GR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β)·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KUPLAJ — MATEMATIK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1: Önce İç Eksen Uygulanır</a:t>
            </a:r>
            <a:endParaRPr lang="en-US" sz="2800" dirty="0"/>
          </a:p>
        </p:txBody>
      </p:sp>
      <p:pic>
        <p:nvPicPr>
          <p:cNvPr id="4" name="Image 0" descr="img/m2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35" y="2148840"/>
            <a:ext cx="9518424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KUPLAJ — MATEMATIK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 2: Sonra Dış Eksen Uygulanır</a:t>
            </a:r>
            <a:endParaRPr lang="en-US" sz="2800" dirty="0"/>
          </a:p>
        </p:txBody>
      </p:sp>
      <p:pic>
        <p:nvPicPr>
          <p:cNvPr id="4" name="Image 0" descr="img/m3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17" y="2148840"/>
            <a:ext cx="9301861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KUPLAJ — MATEMATIK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Sonuç: x′ ve y′ — Kuplaj Terimi Ortaya Çıkıyor</a:t>
            </a:r>
            <a:endParaRPr lang="en-US" sz="2800" dirty="0"/>
          </a:p>
        </p:txBody>
      </p:sp>
      <p:pic>
        <p:nvPicPr>
          <p:cNvPr id="4" name="Image 0" descr="img/m4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9209" y="2103120"/>
            <a:ext cx="8562097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89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x′ yalnızca azimuta bağlı  ·  y′ hem β hem α'dan etkileniyor  →  KUPLAJ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9B4F77-F8F0-2D89-FA7D-EA36DED99C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95" r="25884" b="-3395"/>
          <a:stretch>
            <a:fillRect/>
          </a:stretch>
        </p:blipFill>
        <p:spPr>
          <a:xfrm>
            <a:off x="6947963" y="3486160"/>
            <a:ext cx="4691308" cy="2503160"/>
          </a:xfrm>
          <a:prstGeom prst="rect">
            <a:avLst/>
          </a:prstGeom>
        </p:spPr>
      </p:pic>
      <p:sp>
        <p:nvSpPr>
          <p:cNvPr id="12" name="Frame 11">
            <a:extLst>
              <a:ext uri="{FF2B5EF4-FFF2-40B4-BE49-F238E27FC236}">
                <a16:creationId xmlns:a16="http://schemas.microsoft.com/office/drawing/2014/main" id="{E20021DC-F2B7-CD61-6CCB-2C0D5DB70731}"/>
              </a:ext>
            </a:extLst>
          </p:cNvPr>
          <p:cNvSpPr/>
          <p:nvPr/>
        </p:nvSpPr>
        <p:spPr>
          <a:xfrm>
            <a:off x="6947963" y="4182137"/>
            <a:ext cx="4605845" cy="1670024"/>
          </a:xfrm>
          <a:prstGeom prst="frame">
            <a:avLst>
              <a:gd name="adj1" fmla="val 4675"/>
            </a:avLst>
          </a:prstGeom>
          <a:solidFill>
            <a:srgbClr val="C000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65DC40-C894-C15A-8BF0-D35F89932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514" y="1874948"/>
            <a:ext cx="2106449" cy="194142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E4BA1E-392F-85D9-1B88-A00584DD7097}"/>
              </a:ext>
            </a:extLst>
          </p:cNvPr>
          <p:cNvCxnSpPr/>
          <p:nvPr/>
        </p:nvCxnSpPr>
        <p:spPr>
          <a:xfrm flipH="1">
            <a:off x="4226560" y="2397760"/>
            <a:ext cx="11277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B96492-51EB-98BD-674F-4C7E9C24A2B1}"/>
              </a:ext>
            </a:extLst>
          </p:cNvPr>
          <p:cNvCxnSpPr/>
          <p:nvPr/>
        </p:nvCxnSpPr>
        <p:spPr>
          <a:xfrm flipH="1">
            <a:off x="3962400" y="2845662"/>
            <a:ext cx="1574800" cy="3750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9A290FC-95E0-9C27-6144-133B05BE1AF8}"/>
                  </a:ext>
                </a:extLst>
              </p14:cNvPr>
              <p14:cNvContentPartPr/>
              <p14:nvPr/>
            </p14:nvContentPartPr>
            <p14:xfrm>
              <a:off x="5516600" y="3230200"/>
              <a:ext cx="731160" cy="31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9A290FC-95E0-9C27-6144-133B05BE1A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2960" y="3122200"/>
                <a:ext cx="8388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0D3FDB-38C9-B1D9-CF62-0ABB50E510FF}"/>
                  </a:ext>
                </a:extLst>
              </p14:cNvPr>
              <p14:cNvContentPartPr/>
              <p14:nvPr/>
            </p14:nvContentPartPr>
            <p14:xfrm>
              <a:off x="3017480" y="2721520"/>
              <a:ext cx="1080360" cy="28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0D3FDB-38C9-B1D9-CF62-0ABB50E510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63480" y="2613880"/>
                <a:ext cx="11880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9196E3-E38A-A53D-DD69-C26281D58EB6}"/>
                  </a:ext>
                </a:extLst>
              </p14:cNvPr>
              <p14:cNvContentPartPr/>
              <p14:nvPr/>
            </p14:nvContentPartPr>
            <p14:xfrm>
              <a:off x="3007040" y="3486160"/>
              <a:ext cx="1089000" cy="90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9196E3-E38A-A53D-DD69-C26281D58E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3400" y="3378520"/>
                <a:ext cx="1196640" cy="30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1 — EŞIT AÇISAL ARALIK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Köşeler, </a:t>
            </a:r>
            <a:r>
              <a:rPr lang="en-US" sz="3000" b="1" dirty="0" err="1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Kenarl</a:t>
            </a:r>
            <a:r>
              <a:rPr lang="tr-TR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3000" b="1" dirty="0" err="1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rden</a:t>
            </a: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Daha Fazla Sapıyor</a:t>
            </a:r>
            <a:endParaRPr lang="en-US" sz="3000" dirty="0"/>
          </a:p>
        </p:txBody>
      </p:sp>
      <p:pic>
        <p:nvPicPr>
          <p:cNvPr id="4" name="Image 0" descr="img/m5_r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6" y="1518091"/>
            <a:ext cx="4952950" cy="2103120"/>
          </a:xfrm>
          <a:prstGeom prst="rect">
            <a:avLst/>
          </a:prstGeom>
        </p:spPr>
      </p:pic>
      <p:pic>
        <p:nvPicPr>
          <p:cNvPr id="6" name="Image 1" descr="img/d3_cor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31" y="-489686"/>
            <a:ext cx="5801664" cy="47628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B61E5F-8B61-A093-B1B7-90888682E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54" y="3079413"/>
            <a:ext cx="6698469" cy="1861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407BB3-4403-51FF-1CF6-494201B05233}"/>
              </a:ext>
            </a:extLst>
          </p:cNvPr>
          <p:cNvSpPr txBox="1"/>
          <p:nvPr/>
        </p:nvSpPr>
        <p:spPr>
          <a:xfrm>
            <a:off x="479754" y="5044037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Elevasyon) 13°=13*2.37=30.81mm</a:t>
            </a:r>
          </a:p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Azimut) 13°=13*5=65mm</a:t>
            </a:r>
          </a:p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SAFE_LIMIT_X=65.0mm</a:t>
            </a:r>
          </a:p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SAFE_LIMIT_Y=30.8mm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56697-ABAF-37F4-435D-A9C2E3F6C26C}"/>
              </a:ext>
            </a:extLst>
          </p:cNvPr>
          <p:cNvSpPr txBox="1"/>
          <p:nvPr/>
        </p:nvSpPr>
        <p:spPr>
          <a:xfrm>
            <a:off x="10244723" y="1821266"/>
            <a:ext cx="127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accent5">
                    <a:lumMod val="75000"/>
                  </a:schemeClr>
                </a:solidFill>
              </a:rPr>
              <a:t>X(+)=14.00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7B300D-7124-8A29-AE1D-39EA69E5B74A}"/>
              </a:ext>
            </a:extLst>
          </p:cNvPr>
          <p:cNvSpPr txBox="1"/>
          <p:nvPr/>
        </p:nvSpPr>
        <p:spPr>
          <a:xfrm>
            <a:off x="8591183" y="1830070"/>
            <a:ext cx="165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accent5">
                    <a:lumMod val="75000"/>
                  </a:schemeClr>
                </a:solidFill>
              </a:rPr>
              <a:t>X(-) =19.98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246CD-73B3-344C-F0A5-71A0545A095C}"/>
              </a:ext>
            </a:extLst>
          </p:cNvPr>
          <p:cNvSpPr txBox="1"/>
          <p:nvPr/>
        </p:nvSpPr>
        <p:spPr>
          <a:xfrm>
            <a:off x="9154384" y="635615"/>
            <a:ext cx="906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>
                <a:solidFill>
                  <a:srgbClr val="FF3300"/>
                </a:solidFill>
              </a:rPr>
              <a:t>Y(+)</a:t>
            </a:r>
          </a:p>
          <a:p>
            <a:pPr algn="ctr"/>
            <a:r>
              <a:rPr lang="tr-TR" dirty="0">
                <a:solidFill>
                  <a:srgbClr val="FF3300"/>
                </a:solidFill>
              </a:rPr>
              <a:t>=</a:t>
            </a:r>
          </a:p>
          <a:p>
            <a:pPr algn="ctr"/>
            <a:r>
              <a:rPr lang="tr-TR" dirty="0">
                <a:solidFill>
                  <a:srgbClr val="FF3300"/>
                </a:solidFill>
              </a:rPr>
              <a:t>21.68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AAEE2-7856-9B24-ED64-78E89056A5BC}"/>
              </a:ext>
            </a:extLst>
          </p:cNvPr>
          <p:cNvSpPr txBox="1"/>
          <p:nvPr/>
        </p:nvSpPr>
        <p:spPr>
          <a:xfrm>
            <a:off x="6655910" y="23269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3300"/>
                </a:solidFill>
              </a:rPr>
              <a:t>Y(</a:t>
            </a:r>
            <a:r>
              <a:rPr lang="tr-TR" dirty="0">
                <a:solidFill>
                  <a:srgbClr val="FF3300"/>
                </a:solidFill>
              </a:rPr>
              <a:t>-</a:t>
            </a:r>
            <a:r>
              <a:rPr lang="en-US" dirty="0">
                <a:solidFill>
                  <a:srgbClr val="FF3300"/>
                </a:solidFill>
              </a:rPr>
              <a:t>)</a:t>
            </a:r>
          </a:p>
          <a:p>
            <a:pPr algn="ctr"/>
            <a:r>
              <a:rPr lang="en-US" dirty="0">
                <a:solidFill>
                  <a:srgbClr val="FF3300"/>
                </a:solidFill>
              </a:rPr>
              <a:t>=</a:t>
            </a:r>
          </a:p>
          <a:p>
            <a:pPr algn="ctr"/>
            <a:r>
              <a:rPr lang="tr-TR" dirty="0">
                <a:solidFill>
                  <a:srgbClr val="FF3300"/>
                </a:solidFill>
              </a:rPr>
              <a:t>13.59</a:t>
            </a:r>
            <a:endParaRPr lang="en-US" dirty="0">
              <a:solidFill>
                <a:srgbClr val="FF33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F97265-FEDA-8C90-24A3-EA7A30A6F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158" y="3377824"/>
            <a:ext cx="4704049" cy="38630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81FAC9-4EA5-406E-C5DE-DC88B129A120}"/>
              </a:ext>
            </a:extLst>
          </p:cNvPr>
          <p:cNvSpPr/>
          <p:nvPr/>
        </p:nvSpPr>
        <p:spPr>
          <a:xfrm>
            <a:off x="7736702" y="4537189"/>
            <a:ext cx="1584960" cy="148475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8CD80C-DDA5-5723-80D8-39FFB258E502}"/>
              </a:ext>
            </a:extLst>
          </p:cNvPr>
          <p:cNvSpPr txBox="1"/>
          <p:nvPr/>
        </p:nvSpPr>
        <p:spPr>
          <a:xfrm>
            <a:off x="7652867" y="4487923"/>
            <a:ext cx="645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3200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27.18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F4DF6C-2F7D-951A-A453-EA4D0656E68C}"/>
              </a:ext>
            </a:extLst>
          </p:cNvPr>
          <p:cNvSpPr txBox="1"/>
          <p:nvPr/>
        </p:nvSpPr>
        <p:spPr>
          <a:xfrm rot="5400000">
            <a:off x="5897225" y="7668593"/>
            <a:ext cx="645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3200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27.18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1 — KARAR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Ölçümler ve Simetrik Açısal Limit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EKSENI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4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r>
              <a:rPr lang="en-US" sz="4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.0°</a:t>
            </a:r>
            <a:r>
              <a:rPr lang="tr-TR" sz="4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*2= 28</a:t>
            </a:r>
            <a:r>
              <a:rPr lang="en-US" sz="4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 mm — home'dan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EKSENI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239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4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13.59*2=</a:t>
            </a:r>
            <a:r>
              <a:rPr lang="tr-TR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27.18</a:t>
            </a: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27.61 mm — home'dan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BOĞAZ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4400" b="1" dirty="0">
                <a:solidFill>
                  <a:srgbClr val="8A6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13.59</a:t>
            </a:r>
            <a:r>
              <a:rPr lang="en-US" sz="4400" b="1" dirty="0">
                <a:solidFill>
                  <a:srgbClr val="8A6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°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 eksenin küçük olanı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0927080" cy="1234440"/>
          </a:xfrm>
          <a:prstGeom prst="roundRect">
            <a:avLst>
              <a:gd name="adj" fmla="val 7407"/>
            </a:avLst>
          </a:prstGeom>
          <a:solidFill>
            <a:srgbClr val="FBF1DC"/>
          </a:solidFill>
          <a:ln w="15240">
            <a:solidFill>
              <a:srgbClr val="E3B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617720"/>
            <a:ext cx="10195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Uygulanan karar:  </a:t>
            </a: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±10° simetrik  </a:t>
            </a: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= 50.0 mm,  Y = 23.7 mm)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11C1B-8739-AD53-47ED-AA7267DC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681" y="1"/>
            <a:ext cx="696063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47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8F2DC-F00C-FF31-F448-E1D019666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06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E776D1-70F4-0C96-C839-6D0125DDD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14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338CE-177C-E7D6-5DC7-F10D8549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8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48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6858000" cy="6858000"/>
          </a:xfrm>
          <a:prstGeom prst="ellipse">
            <a:avLst/>
          </a:prstGeom>
          <a:ln w="31750">
            <a:solidFill>
              <a:srgbClr val="162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846320"/>
            <a:ext cx="5029200" cy="5029200"/>
          </a:xfrm>
          <a:prstGeom prst="ellipse">
            <a:avLst/>
          </a:prstGeom>
          <a:ln w="17780">
            <a:solidFill>
              <a:srgbClr val="E3B23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Gimbal–Lazer Kalibrasyon Çalışması  ·  Sorular ve Değerlendirmeleriniz İçin Açığız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şil Sarı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967</Words>
  <Application>Microsoft Office PowerPoint</Application>
  <PresentationFormat>Widescreen</PresentationFormat>
  <Paragraphs>163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ECE SALMAN</cp:lastModifiedBy>
  <cp:revision>13</cp:revision>
  <dcterms:created xsi:type="dcterms:W3CDTF">2026-08-19T16:17:37Z</dcterms:created>
  <dcterms:modified xsi:type="dcterms:W3CDTF">2026-08-20T13:12:30Z</dcterms:modified>
</cp:coreProperties>
</file>